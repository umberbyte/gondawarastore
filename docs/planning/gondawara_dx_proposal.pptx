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645920"/>
            <a:ext cx="137160" cy="292608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645920"/>
            <a:ext cx="9601200" cy="2926080"/>
          </a:xfrm>
          <a:prstGeom prst="rect">
            <a:avLst/>
          </a:prstGeom>
          <a:noFill/>
        </p:spPr>
        <p:txBody>
          <a:bodyPr wrap="square">
            <a:spAutoFit/>
          </a:bodyPr>
          <a:lstStyle/>
          <a:p>
            <a:pPr>
              <a:defRPr sz="1200" b="1">
                <a:solidFill>
                  <a:srgbClr val="CA8A04"/>
                </a:solidFill>
              </a:defRPr>
            </a:pPr>
            <a:r>
              <a:t>PROPOSAL FOR DIGITAL BUSINESS EXPANSION</a:t>
            </a:r>
          </a:p>
          <a:p>
            <a:pPr>
              <a:defRPr sz="3000" b="1">
                <a:solidFill>
                  <a:srgbClr val="FFFFFF"/>
                </a:solidFill>
              </a:defRPr>
            </a:pPr>
            <a:r>
              <a:t>創業百二十年の伝統と先進デジタル技術の融合</a:t>
            </a:r>
            <a:br/>
            <a:r>
              <a:t>オムニチャネルECプラットフォーム構築 企画提案書</a:t>
            </a:r>
          </a:p>
          <a:p>
            <a:pPr>
              <a:defRPr sz="1500">
                <a:solidFill>
                  <a:srgbClr val="E2E8F0"/>
                </a:solidFill>
              </a:defRPr>
            </a:pPr>
            <a:r>
              <a:t>ご提案先: 有限会社 権田原水産　代表取締役 権田原 権三 様</a:t>
            </a:r>
          </a:p>
        </p:txBody>
      </p:sp>
      <p:sp>
        <p:nvSpPr>
          <p:cNvPr id="5" name="TextBox 4"/>
          <p:cNvSpPr txBox="1"/>
          <p:nvPr/>
        </p:nvSpPr>
        <p:spPr>
          <a:xfrm>
            <a:off x="1280160" y="5303520"/>
            <a:ext cx="9144000" cy="914400"/>
          </a:xfrm>
          <a:prstGeom prst="rect">
            <a:avLst/>
          </a:prstGeom>
          <a:noFill/>
        </p:spPr>
        <p:txBody>
          <a:bodyPr wrap="none">
            <a:spAutoFit/>
          </a:bodyPr>
          <a:lstStyle/>
          <a:p>
            <a:pPr>
              <a:defRPr sz="1100">
                <a:solidFill>
                  <a:srgbClr val="94A3B8"/>
                </a:solidFill>
              </a:defRPr>
            </a:pPr>
            <a:r>
              <a:t>提出日: 2026年9月吉日  |  株式会社ハイパーネクストソリューションズ DXソリューション事業部  |  Ver 1.0 (PROPOSAL)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lIns="0" tIns="0" rIns="0" bIns="0">
            <a:spAutoFit/>
          </a:bodyPr>
          <a:lstStyle/>
          <a:p>
            <a:pPr>
              <a:defRPr sz="1000" b="1">
                <a:solidFill>
                  <a:srgbClr val="CA8A04"/>
                </a:solidFill>
              </a:defRPr>
            </a:pPr>
            <a:r>
              <a:t>STRATEGIC E-COMMERCE PROPOSAL</a:t>
            </a:r>
          </a:p>
          <a:p>
            <a:pPr>
              <a:defRPr sz="2200" b="1">
                <a:solidFill>
                  <a:srgbClr val="0F172A"/>
                </a:solidFill>
              </a:defRPr>
            </a:pPr>
            <a:r>
              <a:t>プロジェクト背景および戦略的導入ビジョン</a:t>
            </a:r>
          </a:p>
        </p:txBody>
      </p:sp>
      <p:sp>
        <p:nvSpPr>
          <p:cNvPr id="4" name="Rounded Rectangle 3"/>
          <p:cNvSpPr/>
          <p:nvPr/>
        </p:nvSpPr>
        <p:spPr>
          <a:xfrm>
            <a:off x="731520" y="1371600"/>
            <a:ext cx="3328416"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554480"/>
            <a:ext cx="2871216" cy="4389120"/>
          </a:xfrm>
          <a:prstGeom prst="rect">
            <a:avLst/>
          </a:prstGeom>
          <a:noFill/>
        </p:spPr>
        <p:txBody>
          <a:bodyPr wrap="square">
            <a:spAutoFit/>
          </a:bodyPr>
          <a:lstStyle/>
          <a:p>
            <a:pPr>
              <a:defRPr sz="1100" b="1">
                <a:solidFill>
                  <a:srgbClr val="CA8A04"/>
                </a:solidFill>
              </a:defRPr>
            </a:pPr>
            <a:r>
              <a:t>01 / 市場環境と事業機会</a:t>
            </a:r>
          </a:p>
          <a:p>
            <a:pPr>
              <a:defRPr sz="1500" b="1">
                <a:solidFill>
                  <a:srgbClr val="0F172A"/>
                </a:solidFill>
              </a:defRPr>
            </a:pPr>
            <a:r>
              <a:t>老舗ブランドの全国D2C展開</a:t>
            </a:r>
          </a:p>
          <a:p>
            <a:pPr>
              <a:defRPr sz="1050">
                <a:solidFill>
                  <a:srgbClr val="0F172A"/>
                </a:solidFill>
              </a:defRPr>
            </a:pPr>
            <a:r>
              <a:t>・築地・浅草で培った120年の歴史と顧客信頼をアセット化</a:t>
            </a:r>
          </a:p>
          <a:p>
            <a:pPr>
              <a:defRPr sz="1050">
                <a:solidFill>
                  <a:srgbClr val="0F172A"/>
                </a:solidFill>
              </a:defRPr>
            </a:pPr>
            <a:r>
              <a:t>・中元・歳暮需要から日常の家庭食・贈答需要への拡張</a:t>
            </a:r>
          </a:p>
          <a:p>
            <a:pPr>
              <a:defRPr sz="1050">
                <a:solidFill>
                  <a:srgbClr val="0F172A"/>
                </a:solidFill>
              </a:defRPr>
            </a:pPr>
            <a:r>
              <a:t>・地理的制約を打破し、全国の食通層へのダイレクトアクセス確立</a:t>
            </a:r>
          </a:p>
          <a:p>
            <a:pPr>
              <a:defRPr sz="1050">
                <a:solidFill>
                  <a:srgbClr val="0F172A"/>
                </a:solidFill>
              </a:defRPr>
            </a:pPr>
            <a:r>
              <a:t>・伝統の味を次世代へ継承するブランドストーリーのデジタル発信</a:t>
            </a:r>
          </a:p>
          <a:p>
            <a:pPr>
              <a:defRPr sz="1050">
                <a:solidFill>
                  <a:srgbClr val="0F172A"/>
                </a:solidFill>
              </a:defRPr>
            </a:pPr>
            <a:r>
              <a:t>・既存店舗事業との相乗効果による企業価値の最大化</a:t>
            </a:r>
          </a:p>
        </p:txBody>
      </p:sp>
      <p:sp>
        <p:nvSpPr>
          <p:cNvPr id="6" name="Rounded Rectangle 5"/>
          <p:cNvSpPr/>
          <p:nvPr/>
        </p:nvSpPr>
        <p:spPr>
          <a:xfrm>
            <a:off x="4425696" y="1371600"/>
            <a:ext cx="3328416"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54296" y="1554480"/>
            <a:ext cx="2871216" cy="4389120"/>
          </a:xfrm>
          <a:prstGeom prst="rect">
            <a:avLst/>
          </a:prstGeom>
          <a:noFill/>
        </p:spPr>
        <p:txBody>
          <a:bodyPr wrap="square">
            <a:spAutoFit/>
          </a:bodyPr>
          <a:lstStyle/>
          <a:p>
            <a:pPr>
              <a:defRPr sz="1100" b="1">
                <a:solidFill>
                  <a:srgbClr val="CA8A04"/>
                </a:solidFill>
              </a:defRPr>
            </a:pPr>
            <a:r>
              <a:t>02 / 目指すべき主要成果 (KPI)</a:t>
            </a:r>
          </a:p>
          <a:p>
            <a:pPr>
              <a:defRPr sz="1500" b="1">
                <a:solidFill>
                  <a:srgbClr val="0F172A"/>
                </a:solidFill>
              </a:defRPr>
            </a:pPr>
            <a:r>
              <a:t>持続可能なオムニチャネル成長</a:t>
            </a:r>
          </a:p>
          <a:p>
            <a:pPr>
              <a:defRPr sz="1050">
                <a:solidFill>
                  <a:srgbClr val="0F172A"/>
                </a:solidFill>
              </a:defRPr>
            </a:pPr>
            <a:r>
              <a:t>・初年度オンライン売上高の大幅伸長と収益基盤の複線化</a:t>
            </a:r>
          </a:p>
          <a:p>
            <a:pPr>
              <a:defRPr sz="1050">
                <a:solidFill>
                  <a:srgbClr val="0F172A"/>
                </a:solidFill>
              </a:defRPr>
            </a:pPr>
            <a:r>
              <a:t>・デジタル接点を通じた若年・共働き世帯の新規ファン獲得</a:t>
            </a:r>
          </a:p>
          <a:p>
            <a:pPr>
              <a:defRPr sz="1050">
                <a:solidFill>
                  <a:srgbClr val="0F172A"/>
                </a:solidFill>
              </a:defRPr>
            </a:pPr>
            <a:r>
              <a:t>・ブランド体験の深化によるリピート購入率の最大化</a:t>
            </a:r>
          </a:p>
          <a:p>
            <a:pPr>
              <a:defRPr sz="1050">
                <a:solidFill>
                  <a:srgbClr val="0F172A"/>
                </a:solidFill>
              </a:defRPr>
            </a:pPr>
            <a:r>
              <a:t>・直販化（D2C）による高収益体質へのシフトと中間マージン削減</a:t>
            </a:r>
          </a:p>
          <a:p>
            <a:pPr>
              <a:defRPr sz="1050">
                <a:solidFill>
                  <a:srgbClr val="0F172A"/>
                </a:solidFill>
              </a:defRPr>
            </a:pPr>
            <a:r>
              <a:t>・全国的なブランドプレゼンスの確立とメディア波及効果</a:t>
            </a:r>
          </a:p>
        </p:txBody>
      </p:sp>
      <p:sp>
        <p:nvSpPr>
          <p:cNvPr id="8" name="Rounded Rectangle 7"/>
          <p:cNvSpPr/>
          <p:nvPr/>
        </p:nvSpPr>
        <p:spPr>
          <a:xfrm>
            <a:off x="8119872" y="1371600"/>
            <a:ext cx="3328416" cy="47548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48472" y="1554480"/>
            <a:ext cx="2871216" cy="4389120"/>
          </a:xfrm>
          <a:prstGeom prst="rect">
            <a:avLst/>
          </a:prstGeom>
          <a:noFill/>
        </p:spPr>
        <p:txBody>
          <a:bodyPr wrap="square">
            <a:spAutoFit/>
          </a:bodyPr>
          <a:lstStyle/>
          <a:p>
            <a:pPr>
              <a:defRPr sz="1100" b="1">
                <a:solidFill>
                  <a:srgbClr val="CA8A04"/>
                </a:solidFill>
              </a:defRPr>
            </a:pPr>
            <a:r>
              <a:t>03 / 推進方針と提供価値</a:t>
            </a:r>
          </a:p>
          <a:p>
            <a:pPr>
              <a:defRPr sz="1500" b="1">
                <a:solidFill>
                  <a:srgbClr val="0F172A"/>
                </a:solidFill>
              </a:defRPr>
            </a:pPr>
            <a:r>
              <a:t>スピードと品質を両立する導入</a:t>
            </a:r>
          </a:p>
          <a:p>
            <a:pPr>
              <a:defRPr sz="1050">
                <a:solidFill>
                  <a:srgbClr val="0F172A"/>
                </a:solidFill>
              </a:defRPr>
            </a:pPr>
            <a:r>
              <a:t>・モダンなWeb技術（Laravel / Docker）による高拡張性基盤</a:t>
            </a:r>
          </a:p>
          <a:p>
            <a:pPr>
              <a:defRPr sz="1050">
                <a:solidFill>
                  <a:srgbClr val="0F172A"/>
                </a:solidFill>
              </a:defRPr>
            </a:pPr>
            <a:r>
              <a:t>・顧客心理に寄り添ったUI/UXによるシームレスな購買体験</a:t>
            </a:r>
          </a:p>
          <a:p>
            <a:pPr>
              <a:defRPr sz="1050">
                <a:solidFill>
                  <a:srgbClr val="0F172A"/>
                </a:solidFill>
              </a:defRPr>
            </a:pPr>
            <a:r>
              <a:t>・店頭とEC双方のシナジーを追求した柔軟な業務設計</a:t>
            </a:r>
          </a:p>
          <a:p>
            <a:pPr>
              <a:defRPr sz="1050">
                <a:solidFill>
                  <a:srgbClr val="0F172A"/>
                </a:solidFill>
              </a:defRPr>
            </a:pPr>
            <a:r>
              <a:t>・最短リードタイムでの市場投入を実現する段階的アプローチ</a:t>
            </a:r>
          </a:p>
          <a:p>
            <a:pPr>
              <a:defRPr sz="1050">
                <a:solidFill>
                  <a:srgbClr val="0F172A"/>
                </a:solidFill>
              </a:defRPr>
            </a:pPr>
            <a:r>
              <a:t>・将来の外部モール連携・API接続を見据えた拡張設計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lIns="0" tIns="0" rIns="0" bIns="0">
            <a:spAutoFit/>
          </a:bodyPr>
          <a:lstStyle/>
          <a:p>
            <a:pPr>
              <a:defRPr sz="1000" b="1">
                <a:solidFill>
                  <a:srgbClr val="CA8A04"/>
                </a:solidFill>
              </a:defRPr>
            </a:pPr>
            <a:r>
              <a:t>STRATEGIC E-COMMERCE PROPOSAL</a:t>
            </a:r>
          </a:p>
          <a:p>
            <a:pPr>
              <a:defRPr sz="2200" b="1">
                <a:solidFill>
                  <a:srgbClr val="0F172A"/>
                </a:solidFill>
              </a:defRPr>
            </a:pPr>
            <a:r>
              <a:t>顧客ヒアリング要件の構造化と戦略的再定義</a:t>
            </a:r>
          </a:p>
        </p:txBody>
      </p:sp>
      <p:sp>
        <p:nvSpPr>
          <p:cNvPr id="4" name="Rounded Rectangle 3"/>
          <p:cNvSpPr/>
          <p:nvPr/>
        </p:nvSpPr>
        <p:spPr>
          <a:xfrm>
            <a:off x="731520" y="1371600"/>
            <a:ext cx="5175504"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554480"/>
            <a:ext cx="4718304" cy="1828800"/>
          </a:xfrm>
          <a:prstGeom prst="rect">
            <a:avLst/>
          </a:prstGeom>
          <a:noFill/>
        </p:spPr>
        <p:txBody>
          <a:bodyPr wrap="square">
            <a:spAutoFit/>
          </a:bodyPr>
          <a:lstStyle/>
          <a:p>
            <a:pPr>
              <a:defRPr sz="1300" b="1">
                <a:solidFill>
                  <a:srgbClr val="1E3A8A"/>
                </a:solidFill>
              </a:defRPr>
            </a:pPr>
            <a:r>
              <a:t>【FV映像戦略】ブランドアイデンティティの直感認知</a:t>
            </a:r>
          </a:p>
          <a:p>
            <a:pPr>
              <a:defRPr sz="1000">
                <a:solidFill>
                  <a:srgbClr val="0F172A"/>
                </a:solidFill>
              </a:defRPr>
            </a:pPr>
            <a:r>
              <a:t>【店主様ご要望】「秘伝のタレが煮立つ臨場感を動画と音響で画面一杯に伝えたい」</a:t>
            </a:r>
            <a:br/>
            <a:r>
              <a:t>【弊社戦略解釈】ファーストビューに全画面高精細シズル動画を採用。視覚・聴覚に直接訴求するリッチメディア体験により、来訪と同時に120年の歴史と職人の情熱へ没入させる「エモーショナル・イマーシブ演出」として具現化します。</a:t>
            </a:r>
          </a:p>
        </p:txBody>
      </p:sp>
      <p:sp>
        <p:nvSpPr>
          <p:cNvPr id="6" name="Rounded Rectangle 5"/>
          <p:cNvSpPr/>
          <p:nvPr/>
        </p:nvSpPr>
        <p:spPr>
          <a:xfrm>
            <a:off x="6272784" y="1371600"/>
            <a:ext cx="5175504"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01384" y="1554480"/>
            <a:ext cx="4718304" cy="1828800"/>
          </a:xfrm>
          <a:prstGeom prst="rect">
            <a:avLst/>
          </a:prstGeom>
          <a:noFill/>
        </p:spPr>
        <p:txBody>
          <a:bodyPr wrap="square">
            <a:spAutoFit/>
          </a:bodyPr>
          <a:lstStyle/>
          <a:p>
            <a:pPr>
              <a:defRPr sz="1300" b="1">
                <a:solidFill>
                  <a:srgbClr val="1E3A8A"/>
                </a:solidFill>
              </a:defRPr>
            </a:pPr>
            <a:r>
              <a:t>【ロイヤルティ戦略】VIPコミュニティとゲーミフィケーション</a:t>
            </a:r>
          </a:p>
          <a:p>
            <a:pPr>
              <a:defRPr sz="1000">
                <a:solidFill>
                  <a:srgbClr val="0F172A"/>
                </a:solidFill>
              </a:defRPr>
            </a:pPr>
            <a:r>
              <a:t>【店主様ご要望】「昔からの馴染み客を優遇し、特別な繋がりを維持したい」</a:t>
            </a:r>
            <a:br/>
            <a:r>
              <a:t>【弊社戦略解釈】合言葉入力による特別オファー開放施策を導入。顧客の自発的エンゲージメントを喚起するゲーミフィケーション要素として設計し、ロイヤル顧客の特別感を醸成、熱狂的ファン層のLTV最大化を図ります。</a:t>
            </a:r>
          </a:p>
        </p:txBody>
      </p:sp>
      <p:sp>
        <p:nvSpPr>
          <p:cNvPr id="8" name="Rounded Rectangle 7"/>
          <p:cNvSpPr/>
          <p:nvPr/>
        </p:nvSpPr>
        <p:spPr>
          <a:xfrm>
            <a:off x="731520" y="3840480"/>
            <a:ext cx="5175504"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023360"/>
            <a:ext cx="4718304" cy="1828800"/>
          </a:xfrm>
          <a:prstGeom prst="rect">
            <a:avLst/>
          </a:prstGeom>
          <a:noFill/>
        </p:spPr>
        <p:txBody>
          <a:bodyPr wrap="square">
            <a:spAutoFit/>
          </a:bodyPr>
          <a:lstStyle/>
          <a:p>
            <a:pPr>
              <a:defRPr sz="1300" b="1">
                <a:solidFill>
                  <a:srgbClr val="1E3A8A"/>
                </a:solidFill>
              </a:defRPr>
            </a:pPr>
            <a:r>
              <a:t>【品質管理戦略】老舗ならではのハイタッチ・コンシェルジュ</a:t>
            </a:r>
          </a:p>
          <a:p>
            <a:pPr>
              <a:defRPr sz="1000">
                <a:solidFill>
                  <a:srgbClr val="0F172A"/>
                </a:solidFill>
              </a:defRPr>
            </a:pPr>
            <a:r>
              <a:t>【店主様ご要望】「できたての無添加品質を最優先で、確実に美味しい状態でお届けしたい」</a:t>
            </a:r>
            <a:br/>
            <a:r>
              <a:t>【弊社戦略解釈】鮮度管理が極めてシビアな生鮮佃煮について、機械的な自動出荷ではなく個別直接確認を伴うコンシェルジュ型配送オペレーションを採用。安心感と特別感を演出する高付加価値接客と位置付けます。</a:t>
            </a:r>
          </a:p>
        </p:txBody>
      </p:sp>
      <p:sp>
        <p:nvSpPr>
          <p:cNvPr id="10" name="Rounded Rectangle 9"/>
          <p:cNvSpPr/>
          <p:nvPr/>
        </p:nvSpPr>
        <p:spPr>
          <a:xfrm>
            <a:off x="6272784" y="3840480"/>
            <a:ext cx="5175504"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01384" y="4023360"/>
            <a:ext cx="4718304" cy="1828800"/>
          </a:xfrm>
          <a:prstGeom prst="rect">
            <a:avLst/>
          </a:prstGeom>
          <a:noFill/>
        </p:spPr>
        <p:txBody>
          <a:bodyPr wrap="square">
            <a:spAutoFit/>
          </a:bodyPr>
          <a:lstStyle/>
          <a:p>
            <a:pPr>
              <a:defRPr sz="1300" b="1">
                <a:solidFill>
                  <a:srgbClr val="1E3A8A"/>
                </a:solidFill>
              </a:defRPr>
            </a:pPr>
            <a:r>
              <a:t>【決済・データ戦略】フリクションレス決済 &amp; 会員基盤構築</a:t>
            </a:r>
          </a:p>
          <a:p>
            <a:pPr>
              <a:defRPr sz="1000">
                <a:solidFill>
                  <a:srgbClr val="0F172A"/>
                </a:solidFill>
              </a:defRPr>
            </a:pPr>
            <a:r>
              <a:t>【店主様ご要望】「幅広い客層の購買に対応し、将来のリピート基盤を整備したい」</a:t>
            </a:r>
            <a:br/>
            <a:r>
              <a:t>【弊社戦略解釈】次世代キャッシュレス決済（QR・カード）を段階的に導入。購買行動データを蓄積する会員ポイントプログラムを整備し、将来的なオムニチャネルCRM展開の礎を築きます。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lIns="0" tIns="0" rIns="0" bIns="0">
            <a:spAutoFit/>
          </a:bodyPr>
          <a:lstStyle/>
          <a:p>
            <a:pPr>
              <a:defRPr sz="1000" b="1">
                <a:solidFill>
                  <a:srgbClr val="CA8A04"/>
                </a:solidFill>
              </a:defRPr>
            </a:pPr>
            <a:r>
              <a:t>STRATEGIC E-COMMERCE PROPOSAL</a:t>
            </a:r>
          </a:p>
          <a:p>
            <a:pPr>
              <a:defRPr sz="2200" b="1">
                <a:solidFill>
                  <a:srgbClr val="0F172A"/>
                </a:solidFill>
              </a:defRPr>
            </a:pPr>
            <a:r>
              <a:t>システム要件定義および設計仕様概要（現行設計方針）</a:t>
            </a:r>
          </a:p>
        </p:txBody>
      </p:sp>
      <p:graphicFrame>
        <p:nvGraphicFramePr>
          <p:cNvPr id="4" name="Table 3"/>
          <p:cNvGraphicFramePr>
            <a:graphicFrameLocks noGrp="1"/>
          </p:cNvGraphicFramePr>
          <p:nvPr/>
        </p:nvGraphicFramePr>
        <p:xfrm>
          <a:off x="731520" y="1371600"/>
          <a:ext cx="10728655" cy="4754880"/>
        </p:xfrm>
        <a:graphic>
          <a:graphicData uri="http://schemas.openxmlformats.org/drawingml/2006/table">
            <a:tbl>
              <a:tblPr firstRow="1" bandRow="1">
                <a:tableStyleId>{5C22544A-7EE6-4342-B048-85BDC9FD1C3A}</a:tableStyleId>
              </a:tblPr>
              <a:tblGrid>
                <a:gridCol w="1828800"/>
                <a:gridCol w="2926080"/>
                <a:gridCol w="3291840"/>
                <a:gridCol w="2681935"/>
              </a:tblGrid>
              <a:tr h="792480">
                <a:tc>
                  <a:txBody>
                    <a:bodyPr/>
                    <a:lstStyle/>
                    <a:p>
                      <a:pPr>
                        <a:defRPr sz="1050" b="1">
                          <a:solidFill>
                            <a:srgbClr val="FFFFFF"/>
                          </a:solidFill>
                        </a:defRPr>
                      </a:pPr>
                      <a:r>
                        <a:t>機能領域</a:t>
                      </a:r>
                    </a:p>
                  </a:txBody>
                  <a:tcPr>
                    <a:solidFill>
                      <a:srgbClr val="0F172A"/>
                    </a:solidFill>
                  </a:tcPr>
                </a:tc>
                <a:tc>
                  <a:txBody>
                    <a:bodyPr/>
                    <a:lstStyle/>
                    <a:p>
                      <a:pPr>
                        <a:defRPr sz="1050" b="1">
                          <a:solidFill>
                            <a:srgbClr val="FFFFFF"/>
                          </a:solidFill>
                        </a:defRPr>
                      </a:pPr>
                      <a:r>
                        <a:t>設計仕様（要件定義）</a:t>
                      </a:r>
                    </a:p>
                  </a:txBody>
                  <a:tcPr>
                    <a:solidFill>
                      <a:srgbClr val="0F172A"/>
                    </a:solidFill>
                  </a:tcPr>
                </a:tc>
                <a:tc>
                  <a:txBody>
                    <a:bodyPr/>
                    <a:lstStyle/>
                    <a:p>
                      <a:pPr>
                        <a:defRPr sz="1050" b="1">
                          <a:solidFill>
                            <a:srgbClr val="FFFFFF"/>
                          </a:solidFill>
                        </a:defRPr>
                      </a:pPr>
                      <a:r>
                        <a:t>システム実現方針</a:t>
                      </a:r>
                    </a:p>
                  </a:txBody>
                  <a:tcPr>
                    <a:solidFill>
                      <a:srgbClr val="0F172A"/>
                    </a:solidFill>
                  </a:tcPr>
                </a:tc>
                <a:tc>
                  <a:txBody>
                    <a:bodyPr/>
                    <a:lstStyle/>
                    <a:p>
                      <a:pPr>
                        <a:defRPr sz="1050" b="1">
                          <a:solidFill>
                            <a:srgbClr val="FFFFFF"/>
                          </a:solidFill>
                        </a:defRPr>
                      </a:pPr>
                      <a:r>
                        <a:t>ご検討・運用留意事項</a:t>
                      </a:r>
                    </a:p>
                  </a:txBody>
                  <a:tcPr>
                    <a:solidFill>
                      <a:srgbClr val="0F172A"/>
                    </a:solidFill>
                  </a:tcPr>
                </a:tc>
              </a:tr>
              <a:tr h="792480">
                <a:tc>
                  <a:txBody>
                    <a:bodyPr/>
                    <a:lstStyle/>
                    <a:p>
                      <a:pPr>
                        <a:defRPr sz="950">
                          <a:solidFill>
                            <a:srgbClr val="0F172A"/>
                          </a:solidFill>
                        </a:defRPr>
                      </a:pPr>
                      <a:r>
                        <a:t>在庫管理基盤</a:t>
                      </a:r>
                    </a:p>
                  </a:txBody>
                  <a:tcPr>
                    <a:solidFill>
                      <a:srgbClr val="FFFFFF"/>
                    </a:solidFill>
                  </a:tcPr>
                </a:tc>
                <a:tc>
                  <a:txBody>
                    <a:bodyPr/>
                    <a:lstStyle/>
                    <a:p>
                      <a:pPr>
                        <a:defRPr sz="950">
                          <a:solidFill>
                            <a:srgbClr val="0F172A"/>
                          </a:solidFill>
                        </a:defRPr>
                      </a:pPr>
                      <a:r>
                        <a:t>排他制御付きリアルタイム在庫管理</a:t>
                      </a:r>
                    </a:p>
                  </a:txBody>
                  <a:tcPr>
                    <a:solidFill>
                      <a:srgbClr val="FFFFFF"/>
                    </a:solidFill>
                  </a:tcPr>
                </a:tc>
                <a:tc>
                  <a:txBody>
                    <a:bodyPr/>
                    <a:lstStyle/>
                    <a:p>
                      <a:pPr>
                        <a:defRPr sz="950">
                          <a:solidFill>
                            <a:srgbClr val="0F172A"/>
                          </a:solidFill>
                        </a:defRPr>
                      </a:pPr>
                      <a:r>
                        <a:t>トランザクション分離レベルを最適化し、同時注文時の過剰受注（マイナス在庫）を完全に防止する行ロック機構を設計。</a:t>
                      </a:r>
                    </a:p>
                  </a:txBody>
                  <a:tcPr>
                    <a:solidFill>
                      <a:srgbClr val="FFFFFF"/>
                    </a:solidFill>
                  </a:tcPr>
                </a:tc>
                <a:tc>
                  <a:txBody>
                    <a:bodyPr/>
                    <a:lstStyle/>
                    <a:p>
                      <a:pPr>
                        <a:defRPr sz="950">
                          <a:solidFill>
                            <a:srgbClr val="0F172A"/>
                          </a:solidFill>
                        </a:defRPr>
                      </a:pPr>
                      <a:r>
                        <a:t>※店頭販売との在庫連携につきましては、POS未導入期間は管理画面での手動差異照合運用を推奨いたします。</a:t>
                      </a:r>
                    </a:p>
                  </a:txBody>
                  <a:tcPr>
                    <a:solidFill>
                      <a:srgbClr val="FFFFFF"/>
                    </a:solidFill>
                  </a:tcPr>
                </a:tc>
              </a:tr>
              <a:tr h="792480">
                <a:tc>
                  <a:txBody>
                    <a:bodyPr/>
                    <a:lstStyle/>
                    <a:p>
                      <a:pPr>
                        <a:defRPr sz="950">
                          <a:solidFill>
                            <a:srgbClr val="0F172A"/>
                          </a:solidFill>
                        </a:defRPr>
                      </a:pPr>
                      <a:r>
                        <a:t>注文・カート</a:t>
                      </a:r>
                    </a:p>
                  </a:txBody>
                  <a:tcPr>
                    <a:solidFill>
                      <a:srgbClr val="F8FAFC"/>
                    </a:solidFill>
                  </a:tcPr>
                </a:tc>
                <a:tc>
                  <a:txBody>
                    <a:bodyPr/>
                    <a:lstStyle/>
                    <a:p>
                      <a:pPr>
                        <a:defRPr sz="950">
                          <a:solidFill>
                            <a:srgbClr val="0F172A"/>
                          </a:solidFill>
                        </a:defRPr>
                      </a:pPr>
                      <a:r>
                        <a:t>厳格な型検証と整合性バリデーション</a:t>
                      </a:r>
                    </a:p>
                  </a:txBody>
                  <a:tcPr>
                    <a:solidFill>
                      <a:srgbClr val="F8FAFC"/>
                    </a:solidFill>
                  </a:tcPr>
                </a:tc>
                <a:tc>
                  <a:txBody>
                    <a:bodyPr/>
                    <a:lstStyle/>
                    <a:p>
                      <a:pPr>
                        <a:defRPr sz="950">
                          <a:solidFill>
                            <a:srgbClr val="0F172A"/>
                          </a:solidFill>
                        </a:defRPr>
                      </a:pPr>
                      <a:r>
                        <a:t>購入数量の正数検証（1〜99個制限）、負数・特殊文字の自動遮断、金額改ざんを防止するサービストランザクション。</a:t>
                      </a:r>
                    </a:p>
                  </a:txBody>
                  <a:tcPr>
                    <a:solidFill>
                      <a:srgbClr val="F8FAFC"/>
                    </a:solidFill>
                  </a:tcPr>
                </a:tc>
                <a:tc>
                  <a:txBody>
                    <a:bodyPr/>
                    <a:lstStyle/>
                    <a:p>
                      <a:pPr>
                        <a:defRPr sz="950">
                          <a:solidFill>
                            <a:srgbClr val="0F172A"/>
                          </a:solidFill>
                        </a:defRPr>
                      </a:pPr>
                      <a:r>
                        <a:t>※大口注文（法人様向けギフト等）の需要については、別途個別問い合わせ窓口の併設を推奨いたします。</a:t>
                      </a:r>
                    </a:p>
                  </a:txBody>
                  <a:tcPr>
                    <a:solidFill>
                      <a:srgbClr val="F8FAFC"/>
                    </a:solidFill>
                  </a:tcPr>
                </a:tc>
              </a:tr>
              <a:tr h="792480">
                <a:tc>
                  <a:txBody>
                    <a:bodyPr/>
                    <a:lstStyle/>
                    <a:p>
                      <a:pPr>
                        <a:defRPr sz="950">
                          <a:solidFill>
                            <a:srgbClr val="0F172A"/>
                          </a:solidFill>
                        </a:defRPr>
                      </a:pPr>
                      <a:r>
                        <a:t>税額計算処理</a:t>
                      </a:r>
                    </a:p>
                  </a:txBody>
                  <a:tcPr>
                    <a:solidFill>
                      <a:srgbClr val="FFFFFF"/>
                    </a:solidFill>
                  </a:tcPr>
                </a:tc>
                <a:tc>
                  <a:txBody>
                    <a:bodyPr/>
                    <a:lstStyle/>
                    <a:p>
                      <a:pPr>
                        <a:defRPr sz="950">
                          <a:solidFill>
                            <a:srgbClr val="0F172A"/>
                          </a:solidFill>
                        </a:defRPr>
                      </a:pPr>
                      <a:r>
                        <a:t>インボイス制度完全準拠の端数処理</a:t>
                      </a:r>
                    </a:p>
                  </a:txBody>
                  <a:tcPr>
                    <a:solidFill>
                      <a:srgbClr val="FFFFFF"/>
                    </a:solidFill>
                  </a:tcPr>
                </a:tc>
                <a:tc>
                  <a:txBody>
                    <a:bodyPr/>
                    <a:lstStyle/>
                    <a:p>
                      <a:pPr>
                        <a:defRPr sz="950">
                          <a:solidFill>
                            <a:srgbClr val="0F172A"/>
                          </a:solidFill>
                        </a:defRPr>
                      </a:pPr>
                      <a:r>
                        <a:t>関係法令および適格請求書保存方式に基づき、明細ごとではなく一伝票ごとに税額を算出・統一する端数管理基盤。</a:t>
                      </a:r>
                    </a:p>
                  </a:txBody>
                  <a:tcPr>
                    <a:solidFill>
                      <a:srgbClr val="FFFFFF"/>
                    </a:solidFill>
                  </a:tcPr>
                </a:tc>
                <a:tc>
                  <a:txBody>
                    <a:bodyPr/>
                    <a:lstStyle/>
                    <a:p>
                      <a:pPr>
                        <a:defRPr sz="950">
                          <a:solidFill>
                            <a:srgbClr val="0F172A"/>
                          </a:solidFill>
                        </a:defRPr>
                      </a:pPr>
                      <a:r>
                        <a:t>※貴社既存の基幹会計システムまたは顧問税理士様の端数処理方針（切捨て等）との最終すり合わせを推奨いたします。</a:t>
                      </a:r>
                    </a:p>
                  </a:txBody>
                  <a:tcPr>
                    <a:solidFill>
                      <a:srgbClr val="FFFFFF"/>
                    </a:solidFill>
                  </a:tcPr>
                </a:tc>
              </a:tr>
              <a:tr h="792480">
                <a:tc>
                  <a:txBody>
                    <a:bodyPr/>
                    <a:lstStyle/>
                    <a:p>
                      <a:pPr>
                        <a:defRPr sz="950">
                          <a:solidFill>
                            <a:srgbClr val="0F172A"/>
                          </a:solidFill>
                        </a:defRPr>
                      </a:pPr>
                      <a:r>
                        <a:t>セキュリティ</a:t>
                      </a:r>
                    </a:p>
                  </a:txBody>
                  <a:tcPr>
                    <a:solidFill>
                      <a:srgbClr val="F8FAFC"/>
                    </a:solidFill>
                  </a:tcPr>
                </a:tc>
                <a:tc>
                  <a:txBody>
                    <a:bodyPr/>
                    <a:lstStyle/>
                    <a:p>
                      <a:pPr>
                        <a:defRPr sz="950">
                          <a:solidFill>
                            <a:srgbClr val="0F172A"/>
                          </a:solidFill>
                        </a:defRPr>
                      </a:pPr>
                      <a:r>
                        <a:t>OWASP Top 10準拠の堅牢設計</a:t>
                      </a:r>
                    </a:p>
                  </a:txBody>
                  <a:tcPr>
                    <a:solidFill>
                      <a:srgbClr val="F8FAFC"/>
                    </a:solidFill>
                  </a:tcPr>
                </a:tc>
                <a:tc>
                  <a:txBody>
                    <a:bodyPr/>
                    <a:lstStyle/>
                    <a:p>
                      <a:pPr>
                        <a:defRPr sz="950">
                          <a:solidFill>
                            <a:srgbClr val="0F172A"/>
                          </a:solidFill>
                        </a:defRPr>
                      </a:pPr>
                      <a:r>
                        <a:t>Prepared Statementによる生SQLインジェクション完全遮断、Blade標準エスケープによるXSS防御、厳格な認可制御(RBAC)。</a:t>
                      </a:r>
                    </a:p>
                  </a:txBody>
                  <a:tcPr>
                    <a:solidFill>
                      <a:srgbClr val="F8FAFC"/>
                    </a:solidFill>
                  </a:tcPr>
                </a:tc>
                <a:tc>
                  <a:txBody>
                    <a:bodyPr/>
                    <a:lstStyle/>
                    <a:p>
                      <a:pPr>
                        <a:defRPr sz="950">
                          <a:solidFill>
                            <a:srgbClr val="0F172A"/>
                          </a:solidFill>
                        </a:defRPr>
                      </a:pPr>
                      <a:r>
                        <a:t>※管理者アカウントの適切な運用管理（複雑なパスワードの設定および定時変更）の遵守をお願い申し上げます。</a:t>
                      </a:r>
                    </a:p>
                  </a:txBody>
                  <a:tcPr>
                    <a:solidFill>
                      <a:srgbClr val="F8FAFC"/>
                    </a:solidFill>
                  </a:tcPr>
                </a:tc>
              </a:tr>
              <a:tr h="792480">
                <a:tc>
                  <a:txBody>
                    <a:bodyPr/>
                    <a:lstStyle/>
                    <a:p>
                      <a:pPr>
                        <a:defRPr sz="950">
                          <a:solidFill>
                            <a:srgbClr val="0F172A"/>
                          </a:solidFill>
                        </a:defRPr>
                      </a:pPr>
                      <a:r>
                        <a:t>ギフト対応</a:t>
                      </a:r>
                    </a:p>
                  </a:txBody>
                  <a:tcPr>
                    <a:solidFill>
                      <a:srgbClr val="FFFFFF"/>
                    </a:solidFill>
                  </a:tcPr>
                </a:tc>
                <a:tc>
                  <a:txBody>
                    <a:bodyPr/>
                    <a:lstStyle/>
                    <a:p>
                      <a:pPr>
                        <a:defRPr sz="950">
                          <a:solidFill>
                            <a:srgbClr val="0F172A"/>
                          </a:solidFill>
                        </a:defRPr>
                      </a:pPr>
                      <a:r>
                        <a:t>熨斗・贈答オプションの柔軟な入力設計</a:t>
                      </a:r>
                    </a:p>
                  </a:txBody>
                  <a:tcPr>
                    <a:solidFill>
                      <a:srgbClr val="FFFFFF"/>
                    </a:solidFill>
                  </a:tcPr>
                </a:tc>
                <a:tc>
                  <a:txBody>
                    <a:bodyPr/>
                    <a:lstStyle/>
                    <a:p>
                      <a:pPr>
                        <a:defRPr sz="950">
                          <a:solidFill>
                            <a:srgbClr val="0F172A"/>
                          </a:solidFill>
                        </a:defRPr>
                      </a:pPr>
                      <a:r>
                        <a:t>慶事・弔事・名入れ等に対応する備考フォームの設置および、手書き熨斗業務を支援する管理画面印刷用出力。</a:t>
                      </a:r>
                    </a:p>
                  </a:txBody>
                  <a:tcPr>
                    <a:solidFill>
                      <a:srgbClr val="FFFFFF"/>
                    </a:solidFill>
                  </a:tcPr>
                </a:tc>
                <a:tc>
                  <a:txBody>
                    <a:bodyPr/>
                    <a:lstStyle/>
                    <a:p>
                      <a:pPr>
                        <a:defRPr sz="950">
                          <a:solidFill>
                            <a:srgbClr val="0F172A"/>
                          </a:solidFill>
                        </a:defRPr>
                      </a:pPr>
                      <a:r>
                        <a:t>※繁忙期（中元・歳暮期）の名入れ記載漏れを低減するため、主要用途のプリセット選択肢導入を検討可能です。</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lIns="0" tIns="0" rIns="0" bIns="0">
            <a:spAutoFit/>
          </a:bodyPr>
          <a:lstStyle/>
          <a:p>
            <a:pPr>
              <a:defRPr sz="1000" b="1">
                <a:solidFill>
                  <a:srgbClr val="CA8A04"/>
                </a:solidFill>
              </a:defRPr>
            </a:pPr>
            <a:r>
              <a:t>STRATEGIC E-COMMERCE PROPOSAL</a:t>
            </a:r>
          </a:p>
          <a:p>
            <a:pPr>
              <a:defRPr sz="2200" b="1">
                <a:solidFill>
                  <a:srgbClr val="0F172A"/>
                </a:solidFill>
              </a:defRPr>
            </a:pPr>
            <a:r>
              <a:t>ECサイト 情報アーキテクチャ (IA) およびサイトマップ設計</a:t>
            </a:r>
          </a:p>
        </p:txBody>
      </p:sp>
      <p:sp>
        <p:nvSpPr>
          <p:cNvPr id="4" name="Rounded Rectangle 3"/>
          <p:cNvSpPr/>
          <p:nvPr/>
        </p:nvSpPr>
        <p:spPr>
          <a:xfrm>
            <a:off x="4389120" y="1371600"/>
            <a:ext cx="3383280" cy="777240"/>
          </a:xfrm>
          <a:prstGeom prst="roundRect">
            <a:avLst/>
          </a:prstGeom>
          <a:solidFill>
            <a:srgbClr val="1E3A8A"/>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FFFFF"/>
                </a:solidFill>
              </a:defRPr>
            </a:pPr>
            <a:r>
              <a:t>TOPページ</a:t>
            </a:r>
            <a:br/>
            <a:r>
              <a:t>(ブランドFV動画 / 新着情報 / おすすめ商品)</a:t>
            </a:r>
          </a:p>
        </p:txBody>
      </p:sp>
      <p:sp>
        <p:nvSpPr>
          <p:cNvPr id="5" name="Rounded Rectangle 4"/>
          <p:cNvSpPr/>
          <p:nvPr/>
        </p:nvSpPr>
        <p:spPr>
          <a:xfrm>
            <a:off x="731520" y="2468880"/>
            <a:ext cx="2377440" cy="731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商品一覧・検索</a:t>
            </a:r>
            <a:br/>
            <a:r>
              <a:t>(/products)</a:t>
            </a:r>
          </a:p>
        </p:txBody>
      </p:sp>
      <p:sp>
        <p:nvSpPr>
          <p:cNvPr id="6" name="Rounded Rectangle 5"/>
          <p:cNvSpPr/>
          <p:nvPr/>
        </p:nvSpPr>
        <p:spPr>
          <a:xfrm>
            <a:off x="3474720" y="2468880"/>
            <a:ext cx="2377440" cy="731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創業の歴史・こだわり</a:t>
            </a:r>
            <a:br/>
            <a:r>
              <a:t>(/kodawari)</a:t>
            </a:r>
          </a:p>
        </p:txBody>
      </p:sp>
      <p:sp>
        <p:nvSpPr>
          <p:cNvPr id="7" name="Rounded Rectangle 6"/>
          <p:cNvSpPr/>
          <p:nvPr/>
        </p:nvSpPr>
        <p:spPr>
          <a:xfrm>
            <a:off x="6217920" y="2468880"/>
            <a:ext cx="2377440" cy="731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店舗案内・アクセス</a:t>
            </a:r>
            <a:br/>
            <a:r>
              <a:t>(/access)</a:t>
            </a:r>
          </a:p>
        </p:txBody>
      </p:sp>
      <p:sp>
        <p:nvSpPr>
          <p:cNvPr id="8" name="Rounded Rectangle 7"/>
          <p:cNvSpPr/>
          <p:nvPr/>
        </p:nvSpPr>
        <p:spPr>
          <a:xfrm>
            <a:off x="8961120" y="2468880"/>
            <a:ext cx="2377440" cy="731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会員マイページ</a:t>
            </a:r>
            <a:br/>
            <a:r>
              <a:t>(/mypage)</a:t>
            </a:r>
          </a:p>
        </p:txBody>
      </p:sp>
      <p:sp>
        <p:nvSpPr>
          <p:cNvPr id="9" name="Rounded Rectangle 8"/>
          <p:cNvSpPr/>
          <p:nvPr/>
        </p:nvSpPr>
        <p:spPr>
          <a:xfrm>
            <a:off x="731520" y="3566160"/>
            <a:ext cx="2377440" cy="731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商品詳細・仕様</a:t>
            </a:r>
            <a:br/>
            <a:r>
              <a:t>(/products/{id})</a:t>
            </a:r>
          </a:p>
        </p:txBody>
      </p:sp>
      <p:sp>
        <p:nvSpPr>
          <p:cNvPr id="10" name="Rounded Rectangle 9"/>
          <p:cNvSpPr/>
          <p:nvPr/>
        </p:nvSpPr>
        <p:spPr>
          <a:xfrm>
            <a:off x="3474720" y="3566160"/>
            <a:ext cx="2377440" cy="731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買い物かご</a:t>
            </a:r>
            <a:br/>
            <a:r>
              <a:t>(/cart)</a:t>
            </a:r>
          </a:p>
        </p:txBody>
      </p:sp>
      <p:sp>
        <p:nvSpPr>
          <p:cNvPr id="11" name="Rounded Rectangle 10"/>
          <p:cNvSpPr/>
          <p:nvPr/>
        </p:nvSpPr>
        <p:spPr>
          <a:xfrm>
            <a:off x="6217920" y="3566160"/>
            <a:ext cx="2377440" cy="731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ご注文・決済手続き</a:t>
            </a:r>
            <a:br/>
            <a:r>
              <a:t>(/checkout)</a:t>
            </a:r>
          </a:p>
        </p:txBody>
      </p:sp>
      <p:sp>
        <p:nvSpPr>
          <p:cNvPr id="12" name="Rounded Rectangle 11"/>
          <p:cNvSpPr/>
          <p:nvPr/>
        </p:nvSpPr>
        <p:spPr>
          <a:xfrm>
            <a:off x="8961120" y="3566160"/>
            <a:ext cx="2377440" cy="7315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ご注文完了・サンクス</a:t>
            </a:r>
            <a:br/>
            <a:r>
              <a:t>(/thanks)</a:t>
            </a:r>
          </a:p>
        </p:txBody>
      </p:sp>
      <p:sp>
        <p:nvSpPr>
          <p:cNvPr id="13" name="Rounded Rectangle 12"/>
          <p:cNvSpPr/>
          <p:nvPr/>
        </p:nvSpPr>
        <p:spPr>
          <a:xfrm>
            <a:off x="731520" y="4663440"/>
            <a:ext cx="5120640" cy="1097280"/>
          </a:xfrm>
          <a:prstGeom prst="roundRect">
            <a:avLst/>
          </a:prstGeom>
          <a:solidFill>
            <a:srgbClr val="FEF3C7"/>
          </a:solidFill>
          <a:ln w="1905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【特別企画】シークレットVIPラウンジ</a:t>
            </a:r>
            <a:br/>
            <a:r>
              <a:t>(合言葉認証済みロイヤル顧客限定コンテンツ /secret-lounge)</a:t>
            </a:r>
          </a:p>
        </p:txBody>
      </p:sp>
      <p:sp>
        <p:nvSpPr>
          <p:cNvPr id="14" name="Rounded Rectangle 13"/>
          <p:cNvSpPr/>
          <p:nvPr/>
        </p:nvSpPr>
        <p:spPr>
          <a:xfrm>
            <a:off x="6217920" y="4663440"/>
            <a:ext cx="5120640" cy="109728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172A"/>
                </a:solidFill>
              </a:defRPr>
            </a:pPr>
            <a:r>
              <a:t>【コンプライアンス基盤】特定商取引法に基づく表記 / プライバシーポリシー / 利用規約</a:t>
            </a:r>
            <a:br/>
            <a:r>
              <a:t>(全ページフッター共通導線整備)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731520"/>
          </a:xfrm>
          <a:prstGeom prst="rect">
            <a:avLst/>
          </a:prstGeom>
          <a:noFill/>
        </p:spPr>
        <p:txBody>
          <a:bodyPr wrap="square" lIns="0" tIns="0" rIns="0" bIns="0">
            <a:spAutoFit/>
          </a:bodyPr>
          <a:lstStyle/>
          <a:p>
            <a:pPr>
              <a:defRPr sz="1000" b="1">
                <a:solidFill>
                  <a:srgbClr val="CA8A04"/>
                </a:solidFill>
              </a:defRPr>
            </a:pPr>
            <a:r>
              <a:t>STRATEGIC E-COMMERCE PROPOSAL</a:t>
            </a:r>
          </a:p>
          <a:p>
            <a:pPr>
              <a:defRPr sz="2200" b="1">
                <a:solidFill>
                  <a:srgbClr val="0F172A"/>
                </a:solidFill>
              </a:defRPr>
            </a:pPr>
            <a:r>
              <a:t>ローンチ推進スケジュール（最短市場投入アジャイル工程）</a:t>
            </a:r>
          </a:p>
        </p:txBody>
      </p:sp>
      <p:sp>
        <p:nvSpPr>
          <p:cNvPr id="4" name="Rounded Rectangle 3"/>
          <p:cNvSpPr/>
          <p:nvPr/>
        </p:nvSpPr>
        <p:spPr>
          <a:xfrm>
            <a:off x="731520" y="1463040"/>
            <a:ext cx="2423160" cy="3931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2057400" cy="3566160"/>
          </a:xfrm>
          <a:prstGeom prst="rect">
            <a:avLst/>
          </a:prstGeom>
          <a:noFill/>
        </p:spPr>
        <p:txBody>
          <a:bodyPr wrap="square">
            <a:spAutoFit/>
          </a:bodyPr>
          <a:lstStyle/>
          <a:p>
            <a:pPr>
              <a:defRPr sz="1100" b="1">
                <a:solidFill>
                  <a:srgbClr val="CA8A04"/>
                </a:solidFill>
              </a:defRPr>
            </a:pPr>
            <a:r>
              <a:t>STEP 1</a:t>
            </a:r>
          </a:p>
          <a:p>
            <a:pPr>
              <a:defRPr sz="1300" b="1">
                <a:solidFill>
                  <a:srgbClr val="0F172A"/>
                </a:solidFill>
              </a:defRPr>
            </a:pPr>
            <a:r>
              <a:t>Phase 1: 要件確定・設計FIX</a:t>
            </a:r>
          </a:p>
          <a:p>
            <a:pPr>
              <a:defRPr sz="1100" b="1">
                <a:solidFill>
                  <a:srgbClr val="1E3A8A"/>
                </a:solidFill>
              </a:defRPr>
            </a:pPr>
            <a:r>
              <a:t>Week 1</a:t>
            </a:r>
          </a:p>
          <a:p>
            <a:pPr>
              <a:defRPr sz="950">
                <a:solidFill>
                  <a:srgbClr val="0F172A"/>
                </a:solidFill>
              </a:defRPr>
            </a:pPr>
            <a:r>
              <a:t>・事業要件および画面ワイヤー確定</a:t>
            </a:r>
          </a:p>
          <a:p>
            <a:pPr>
              <a:defRPr sz="950">
                <a:solidFill>
                  <a:srgbClr val="0F172A"/>
                </a:solidFill>
              </a:defRPr>
            </a:pPr>
            <a:r>
              <a:t>・DB設計・商品マスタフォーマットFIX</a:t>
            </a:r>
          </a:p>
          <a:p>
            <a:pPr>
              <a:defRPr sz="950">
                <a:solidFill>
                  <a:srgbClr val="0F172A"/>
                </a:solidFill>
              </a:defRPr>
            </a:pPr>
            <a:r>
              <a:t>※貴社仕様検収期間: 1営業日設定</a:t>
            </a:r>
          </a:p>
          <a:p>
            <a:pPr>
              <a:defRPr sz="950">
                <a:solidFill>
                  <a:srgbClr val="0F172A"/>
                </a:solidFill>
              </a:defRPr>
            </a:pPr>
            <a:r>
              <a:t>※素材（画像・原稿）の即日支給前提</a:t>
            </a:r>
          </a:p>
        </p:txBody>
      </p:sp>
      <p:sp>
        <p:nvSpPr>
          <p:cNvPr id="6" name="Rounded Rectangle 5"/>
          <p:cNvSpPr/>
          <p:nvPr/>
        </p:nvSpPr>
        <p:spPr>
          <a:xfrm>
            <a:off x="3474720" y="1463040"/>
            <a:ext cx="2423160" cy="3931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0" y="1645920"/>
            <a:ext cx="2057400" cy="3566160"/>
          </a:xfrm>
          <a:prstGeom prst="rect">
            <a:avLst/>
          </a:prstGeom>
          <a:noFill/>
        </p:spPr>
        <p:txBody>
          <a:bodyPr wrap="square">
            <a:spAutoFit/>
          </a:bodyPr>
          <a:lstStyle/>
          <a:p>
            <a:pPr>
              <a:defRPr sz="1100" b="1">
                <a:solidFill>
                  <a:srgbClr val="CA8A04"/>
                </a:solidFill>
              </a:defRPr>
            </a:pPr>
            <a:r>
              <a:t>STEP 2</a:t>
            </a:r>
          </a:p>
          <a:p>
            <a:pPr>
              <a:defRPr sz="1300" b="1">
                <a:solidFill>
                  <a:srgbClr val="0F172A"/>
                </a:solidFill>
              </a:defRPr>
            </a:pPr>
            <a:r>
              <a:t>Phase 2: 実装・API連携</a:t>
            </a:r>
          </a:p>
          <a:p>
            <a:pPr>
              <a:defRPr sz="1100" b="1">
                <a:solidFill>
                  <a:srgbClr val="1E3A8A"/>
                </a:solidFill>
              </a:defRPr>
            </a:pPr>
            <a:r>
              <a:t>Week 2</a:t>
            </a:r>
          </a:p>
          <a:p>
            <a:pPr>
              <a:defRPr sz="950">
                <a:solidFill>
                  <a:srgbClr val="0F172A"/>
                </a:solidFill>
              </a:defRPr>
            </a:pPr>
            <a:r>
              <a:t>・Laravelフレームワーク基盤構築</a:t>
            </a:r>
          </a:p>
          <a:p>
            <a:pPr>
              <a:defRPr sz="950">
                <a:solidFill>
                  <a:srgbClr val="0F172A"/>
                </a:solidFill>
              </a:defRPr>
            </a:pPr>
            <a:r>
              <a:t>・フロントUI実装・決済連携モック接続</a:t>
            </a:r>
          </a:p>
          <a:p>
            <a:pPr>
              <a:defRPr sz="950">
                <a:solidFill>
                  <a:srgbClr val="0F172A"/>
                </a:solidFill>
              </a:defRPr>
            </a:pPr>
            <a:r>
              <a:t>※並行開発によるリードタイム極小化</a:t>
            </a:r>
          </a:p>
          <a:p>
            <a:pPr>
              <a:defRPr sz="950">
                <a:solidFill>
                  <a:srgbClr val="0F172A"/>
                </a:solidFill>
              </a:defRPr>
            </a:pPr>
            <a:r>
              <a:t>※仕様追加・変更は原則凍結</a:t>
            </a:r>
          </a:p>
        </p:txBody>
      </p:sp>
      <p:sp>
        <p:nvSpPr>
          <p:cNvPr id="8" name="Rounded Rectangle 7"/>
          <p:cNvSpPr/>
          <p:nvPr/>
        </p:nvSpPr>
        <p:spPr>
          <a:xfrm>
            <a:off x="6217920" y="1463040"/>
            <a:ext cx="2423160" cy="3931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645920"/>
            <a:ext cx="2057400" cy="3566160"/>
          </a:xfrm>
          <a:prstGeom prst="rect">
            <a:avLst/>
          </a:prstGeom>
          <a:noFill/>
        </p:spPr>
        <p:txBody>
          <a:bodyPr wrap="square">
            <a:spAutoFit/>
          </a:bodyPr>
          <a:lstStyle/>
          <a:p>
            <a:pPr>
              <a:defRPr sz="1100" b="1">
                <a:solidFill>
                  <a:srgbClr val="CA8A04"/>
                </a:solidFill>
              </a:defRPr>
            </a:pPr>
            <a:r>
              <a:t>STEP 3</a:t>
            </a:r>
          </a:p>
          <a:p>
            <a:pPr>
              <a:defRPr sz="1300" b="1">
                <a:solidFill>
                  <a:srgbClr val="0F172A"/>
                </a:solidFill>
              </a:defRPr>
            </a:pPr>
            <a:r>
              <a:t>Phase 3: 結合検証・受入検収</a:t>
            </a:r>
          </a:p>
          <a:p>
            <a:pPr>
              <a:defRPr sz="1100" b="1">
                <a:solidFill>
                  <a:srgbClr val="1E3A8A"/>
                </a:solidFill>
              </a:defRPr>
            </a:pPr>
            <a:r>
              <a:t>Week 3</a:t>
            </a:r>
          </a:p>
          <a:p>
            <a:pPr>
              <a:defRPr sz="950">
                <a:solidFill>
                  <a:srgbClr val="0F172A"/>
                </a:solidFill>
              </a:defRPr>
            </a:pPr>
            <a:r>
              <a:t>・シナリオテスト・決済疎通確認</a:t>
            </a:r>
          </a:p>
          <a:p>
            <a:pPr>
              <a:defRPr sz="950">
                <a:solidFill>
                  <a:srgbClr val="0F172A"/>
                </a:solidFill>
              </a:defRPr>
            </a:pPr>
            <a:r>
              <a:t>・本番商品マスタデータ登録</a:t>
            </a:r>
          </a:p>
          <a:p>
            <a:pPr>
              <a:defRPr sz="950">
                <a:solidFill>
                  <a:srgbClr val="0F172A"/>
                </a:solidFill>
              </a:defRPr>
            </a:pPr>
            <a:r>
              <a:t>※貴社受入テスト(UAT)期間: 2営業日</a:t>
            </a:r>
          </a:p>
          <a:p>
            <a:pPr>
              <a:defRPr sz="950">
                <a:solidFill>
                  <a:srgbClr val="0F172A"/>
                </a:solidFill>
              </a:defRPr>
            </a:pPr>
            <a:r>
              <a:t>※軽微な微調整の反映完了</a:t>
            </a:r>
          </a:p>
        </p:txBody>
      </p:sp>
      <p:sp>
        <p:nvSpPr>
          <p:cNvPr id="10" name="Rounded Rectangle 9"/>
          <p:cNvSpPr/>
          <p:nvPr/>
        </p:nvSpPr>
        <p:spPr>
          <a:xfrm>
            <a:off x="8961120" y="1463040"/>
            <a:ext cx="2423160" cy="39319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0" y="1645920"/>
            <a:ext cx="2057400" cy="3566160"/>
          </a:xfrm>
          <a:prstGeom prst="rect">
            <a:avLst/>
          </a:prstGeom>
          <a:noFill/>
        </p:spPr>
        <p:txBody>
          <a:bodyPr wrap="square">
            <a:spAutoFit/>
          </a:bodyPr>
          <a:lstStyle/>
          <a:p>
            <a:pPr>
              <a:defRPr sz="1100" b="1">
                <a:solidFill>
                  <a:srgbClr val="CA8A04"/>
                </a:solidFill>
              </a:defRPr>
            </a:pPr>
            <a:r>
              <a:t>STEP 4</a:t>
            </a:r>
          </a:p>
          <a:p>
            <a:pPr>
              <a:defRPr sz="1300" b="1">
                <a:solidFill>
                  <a:srgbClr val="0F172A"/>
                </a:solidFill>
              </a:defRPr>
            </a:pPr>
            <a:r>
              <a:t>Phase 4: 本番移行・OPEN</a:t>
            </a:r>
          </a:p>
          <a:p>
            <a:pPr>
              <a:defRPr sz="1100" b="1">
                <a:solidFill>
                  <a:srgbClr val="1E3A8A"/>
                </a:solidFill>
              </a:defRPr>
            </a:pPr>
            <a:r>
              <a:t>Week 4</a:t>
            </a:r>
          </a:p>
          <a:p>
            <a:pPr>
              <a:defRPr sz="950">
                <a:solidFill>
                  <a:srgbClr val="0F172A"/>
                </a:solidFill>
              </a:defRPr>
            </a:pPr>
            <a:r>
              <a:t>・DNS切り替え・SSL証明書適用</a:t>
            </a:r>
          </a:p>
          <a:p>
            <a:pPr>
              <a:defRPr sz="950">
                <a:solidFill>
                  <a:srgbClr val="0F172A"/>
                </a:solidFill>
              </a:defRPr>
            </a:pPr>
            <a:r>
              <a:t>・本番決済稼働確認・大安吉日公開</a:t>
            </a:r>
          </a:p>
          <a:p>
            <a:pPr>
              <a:defRPr sz="950">
                <a:solidFill>
                  <a:srgbClr val="0F172A"/>
                </a:solidFill>
              </a:defRPr>
            </a:pPr>
            <a:r>
              <a:t>※運用開始および初期監視</a:t>
            </a:r>
          </a:p>
          <a:p>
            <a:pPr>
              <a:defRPr sz="950">
                <a:solidFill>
                  <a:srgbClr val="0F172A"/>
                </a:solidFill>
              </a:defRPr>
            </a:pPr>
            <a:r>
              <a:t>※初期改善イテレーションへ移行</a:t>
            </a:r>
          </a:p>
        </p:txBody>
      </p:sp>
      <p:sp>
        <p:nvSpPr>
          <p:cNvPr id="12" name="TextBox 11"/>
          <p:cNvSpPr txBox="1"/>
          <p:nvPr/>
        </p:nvSpPr>
        <p:spPr>
          <a:xfrm>
            <a:off x="731520" y="5577840"/>
            <a:ext cx="10728655" cy="822960"/>
          </a:xfrm>
          <a:prstGeom prst="rect">
            <a:avLst/>
          </a:prstGeom>
          <a:noFill/>
        </p:spPr>
        <p:txBody>
          <a:bodyPr wrap="square">
            <a:spAutoFit/>
          </a:bodyPr>
          <a:lstStyle/>
          <a:p>
            <a:pPr>
              <a:defRPr sz="950" b="1">
                <a:solidFill>
                  <a:srgbClr val="475569"/>
                </a:solidFill>
              </a:defRPr>
            </a:pPr>
            <a:r>
              <a:t>【推進上の前提事項およびリスクヘッジ条項】</a:t>
            </a:r>
          </a:p>
          <a:p>
            <a:pPr>
              <a:defRPr sz="900">
                <a:solidFill>
                  <a:srgbClr val="475569"/>
                </a:solidFill>
              </a:defRPr>
            </a:pPr>
            <a:r>
              <a:t>※本スケジュールは最短での市場投入を達成するため、各工程における貴社ご判断および素材提供を「即日」頂戴することを前提とした高効率アジャイル工程となっております。各社審査（クレジットカード等決済代行会社）の所要日数により、一部決済手段の稼働開始がリリース以降順次となる場合がござい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