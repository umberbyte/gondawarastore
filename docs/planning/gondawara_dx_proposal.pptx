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 cy="29260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645920"/>
            <a:ext cx="9601200" cy="2926080"/>
          </a:xfrm>
          <a:prstGeom prst="rect">
            <a:avLst/>
          </a:prstGeom>
          <a:noFill/>
        </p:spPr>
        <p:txBody>
          <a:bodyPr wrap="square">
            <a:spAutoFit/>
          </a:bodyPr>
          <a:lstStyle/>
          <a:p>
            <a:pPr>
              <a:defRPr sz="1200" b="1">
                <a:solidFill>
                  <a:srgbClr val="EA580C"/>
                </a:solidFill>
              </a:defRPr>
            </a:pPr>
            <a:r>
              <a:t>PROPOSAL FOR DIGITAL TRANSFORMATION</a:t>
            </a:r>
          </a:p>
          <a:p>
            <a:pPr>
              <a:defRPr sz="3200" b="1">
                <a:solidFill>
                  <a:srgbClr val="FFFFFF"/>
                </a:solidFill>
              </a:defRPr>
            </a:pPr>
            <a:r>
              <a:t>伝統とデジタルの融合による</a:t>
            </a:r>
            <a:br/>
            <a:r>
              <a:t>全国販路拡大 ECプラットフォーム構築計画書</a:t>
            </a:r>
          </a:p>
          <a:p>
            <a:pPr>
              <a:defRPr sz="1500">
                <a:solidFill>
                  <a:srgbClr val="94A3B8"/>
                </a:solidFill>
              </a:defRPr>
            </a:pPr>
            <a:r>
              <a:t>有限会社 権田原水産 / 創業明治38年「権田原佃煮店」公式オンラインショップ</a:t>
            </a:r>
          </a:p>
        </p:txBody>
      </p:sp>
      <p:sp>
        <p:nvSpPr>
          <p:cNvPr id="5" name="TextBox 4"/>
          <p:cNvSpPr txBox="1"/>
          <p:nvPr/>
        </p:nvSpPr>
        <p:spPr>
          <a:xfrm>
            <a:off x="1280160" y="5303520"/>
            <a:ext cx="9144000" cy="914400"/>
          </a:xfrm>
          <a:prstGeom prst="rect">
            <a:avLst/>
          </a:prstGeom>
          <a:noFill/>
        </p:spPr>
        <p:txBody>
          <a:bodyPr wrap="none">
            <a:spAutoFit/>
          </a:bodyPr>
          <a:lstStyle/>
          <a:p>
            <a:pPr>
              <a:defRPr sz="1100">
                <a:solidFill>
                  <a:srgbClr val="CBD5E1"/>
                </a:solidFill>
              </a:defRPr>
            </a:pPr>
            <a:r>
              <a:t>日付: 2026年9月吉日  |  作成: 株式会社ハイパーネクストソリューションズ (格安Web制作チーム)  |  Ver 1.0 (FIX)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rIns="0" bIns="0">
            <a:spAutoFit/>
          </a:bodyPr>
          <a:lstStyle/>
          <a:p>
            <a:pPr>
              <a:defRPr sz="1000" b="1">
                <a:solidFill>
                  <a:srgbClr val="EA580C"/>
                </a:solidFill>
              </a:defRPr>
            </a:pPr>
            <a:r>
              <a:t>GONDAWARA TSUKUDANI DX PROJECT</a:t>
            </a:r>
          </a:p>
          <a:p>
            <a:pPr>
              <a:defRPr sz="2200" b="1">
                <a:solidFill>
                  <a:srgbClr val="0F172A"/>
                </a:solidFill>
              </a:defRPr>
            </a:pPr>
            <a:r>
              <a:t>プロジェクト背景 &amp; エグゼクティブサマリー</a:t>
            </a:r>
          </a:p>
        </p:txBody>
      </p:sp>
      <p:sp>
        <p:nvSpPr>
          <p:cNvPr id="4" name="Rounded Rectangle 3"/>
          <p:cNvSpPr/>
          <p:nvPr/>
        </p:nvSpPr>
        <p:spPr>
          <a:xfrm>
            <a:off x="731520" y="1371600"/>
            <a:ext cx="3328416" cy="47548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62656" cy="4389120"/>
          </a:xfrm>
          <a:prstGeom prst="rect">
            <a:avLst/>
          </a:prstGeom>
          <a:noFill/>
        </p:spPr>
        <p:txBody>
          <a:bodyPr wrap="square">
            <a:spAutoFit/>
          </a:bodyPr>
          <a:lstStyle/>
          <a:p>
            <a:pPr>
              <a:defRPr sz="1100" b="1">
                <a:solidFill>
                  <a:srgbClr val="EA580C"/>
                </a:solidFill>
              </a:defRPr>
            </a:pPr>
            <a:r>
              <a:t>01 / 背景と課題</a:t>
            </a:r>
          </a:p>
          <a:p>
            <a:pPr>
              <a:defRPr sz="1500" b="1">
                <a:solidFill>
                  <a:srgbClr val="0F172A"/>
                </a:solidFill>
              </a:defRPr>
            </a:pPr>
            <a:r>
              <a:t>老舗の危機感とDXの胎動</a:t>
            </a:r>
          </a:p>
          <a:p>
            <a:pPr>
              <a:defRPr sz="1100">
                <a:solidFill>
                  <a:srgbClr val="0F172A"/>
                </a:solidFill>
              </a:defRPr>
            </a:pPr>
            <a:r>
              <a:t>・創業120年、築地・浅草の店頭販売中心で推移</a:t>
            </a:r>
          </a:p>
          <a:p>
            <a:pPr>
              <a:defRPr sz="1100">
                <a:solidFill>
                  <a:srgbClr val="0F172A"/>
                </a:solidFill>
              </a:defRPr>
            </a:pPr>
            <a:r>
              <a:t>・近隣の同業他社がネット通販を開始し売上伸長</a:t>
            </a:r>
          </a:p>
          <a:p>
            <a:pPr>
              <a:defRPr sz="1100">
                <a:solidFill>
                  <a:srgbClr val="0F172A"/>
                </a:solidFill>
              </a:defRPr>
            </a:pPr>
            <a:r>
              <a:t>・店主権三氏（62歳）が一念発起『うちもやるぞ！』</a:t>
            </a:r>
          </a:p>
          <a:p>
            <a:pPr>
              <a:defRPr sz="1100">
                <a:solidFill>
                  <a:srgbClr val="0F172A"/>
                </a:solidFill>
              </a:defRPr>
            </a:pPr>
            <a:r>
              <a:t>・『一番安く、すぐ作れる会社』として弊社に特命発注</a:t>
            </a:r>
          </a:p>
          <a:p>
            <a:pPr>
              <a:defRPr sz="1100">
                <a:solidFill>
                  <a:srgbClr val="0F172A"/>
                </a:solidFill>
              </a:defRPr>
            </a:pPr>
            <a:r>
              <a:t>・IT専門部署・担当者は不在（店主が全権指示）</a:t>
            </a:r>
          </a:p>
        </p:txBody>
      </p:sp>
      <p:sp>
        <p:nvSpPr>
          <p:cNvPr id="6" name="Rounded Rectangle 5"/>
          <p:cNvSpPr/>
          <p:nvPr/>
        </p:nvSpPr>
        <p:spPr>
          <a:xfrm>
            <a:off x="4425696" y="1371600"/>
            <a:ext cx="3328416" cy="47548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554480"/>
            <a:ext cx="2962656" cy="4389120"/>
          </a:xfrm>
          <a:prstGeom prst="rect">
            <a:avLst/>
          </a:prstGeom>
          <a:noFill/>
        </p:spPr>
        <p:txBody>
          <a:bodyPr wrap="square">
            <a:spAutoFit/>
          </a:bodyPr>
          <a:lstStyle/>
          <a:p>
            <a:pPr>
              <a:defRPr sz="1100" b="1">
                <a:solidFill>
                  <a:srgbClr val="EA580C"/>
                </a:solidFill>
              </a:defRPr>
            </a:pPr>
            <a:r>
              <a:t>02 / 掲げられた目標 (KPI)</a:t>
            </a:r>
          </a:p>
          <a:p>
            <a:pPr>
              <a:defRPr sz="1500" b="1">
                <a:solidFill>
                  <a:srgbClr val="0F172A"/>
                </a:solidFill>
              </a:defRPr>
            </a:pPr>
            <a:r>
              <a:t>驚異的な急成長シナリオ</a:t>
            </a:r>
          </a:p>
          <a:p>
            <a:pPr>
              <a:defRPr sz="1100">
                <a:solidFill>
                  <a:srgbClr val="0F172A"/>
                </a:solidFill>
              </a:defRPr>
            </a:pPr>
            <a:r>
              <a:t>・初年度売上目標：前年比 1,000% 増（根拠レス）</a:t>
            </a:r>
          </a:p>
          <a:p>
            <a:pPr>
              <a:defRPr sz="1100">
                <a:solidFill>
                  <a:srgbClr val="0F172A"/>
                </a:solidFill>
              </a:defRPr>
            </a:pPr>
            <a:r>
              <a:t>・『全国の若者に佃煮ブームを巻き起こす』</a:t>
            </a:r>
          </a:p>
          <a:p>
            <a:pPr>
              <a:defRPr sz="1100">
                <a:solidFill>
                  <a:srgbClr val="0F172A"/>
                </a:solidFill>
              </a:defRPr>
            </a:pPr>
            <a:r>
              <a:t>・SNSでバズらせて毎分100件の注文殺到を想定</a:t>
            </a:r>
          </a:p>
          <a:p>
            <a:pPr>
              <a:defRPr sz="1100">
                <a:solidFill>
                  <a:srgbClr val="0F172A"/>
                </a:solidFill>
              </a:defRPr>
            </a:pPr>
            <a:r>
              <a:t>・リピート率：80%以上を根拠なく試算</a:t>
            </a:r>
          </a:p>
          <a:p>
            <a:pPr>
              <a:defRPr sz="1100">
                <a:solidFill>
                  <a:srgbClr val="0F172A"/>
                </a:solidFill>
              </a:defRPr>
            </a:pPr>
            <a:r>
              <a:t>・予算：業界相場の約1/10（超突貫格安プライス）</a:t>
            </a:r>
          </a:p>
        </p:txBody>
      </p:sp>
      <p:sp>
        <p:nvSpPr>
          <p:cNvPr id="8" name="Rounded Rectangle 7"/>
          <p:cNvSpPr/>
          <p:nvPr/>
        </p:nvSpPr>
        <p:spPr>
          <a:xfrm>
            <a:off x="8119872" y="1371600"/>
            <a:ext cx="3328416" cy="47548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554480"/>
            <a:ext cx="2962656" cy="4389120"/>
          </a:xfrm>
          <a:prstGeom prst="rect">
            <a:avLst/>
          </a:prstGeom>
          <a:noFill/>
        </p:spPr>
        <p:txBody>
          <a:bodyPr wrap="square">
            <a:spAutoFit/>
          </a:bodyPr>
          <a:lstStyle/>
          <a:p>
            <a:pPr>
              <a:defRPr sz="1100" b="1">
                <a:solidFill>
                  <a:srgbClr val="EA580C"/>
                </a:solidFill>
              </a:defRPr>
            </a:pPr>
            <a:r>
              <a:t>03 / 基本方針とリスク</a:t>
            </a:r>
          </a:p>
          <a:p>
            <a:pPr>
              <a:defRPr sz="1500" b="1">
                <a:solidFill>
                  <a:srgbClr val="0F172A"/>
                </a:solidFill>
              </a:defRPr>
            </a:pPr>
            <a:r>
              <a:t>スピード最優先・仕様は後追い</a:t>
            </a:r>
          </a:p>
          <a:p>
            <a:pPr>
              <a:defRPr sz="1100">
                <a:solidFill>
                  <a:srgbClr val="0F172A"/>
                </a:solidFill>
              </a:defRPr>
            </a:pPr>
            <a:r>
              <a:t>・『細かいことは作りながら考える』アジャイル（？）</a:t>
            </a:r>
          </a:p>
          <a:p>
            <a:pPr>
              <a:defRPr sz="1100">
                <a:solidFill>
                  <a:srgbClr val="0F172A"/>
                </a:solidFill>
              </a:defRPr>
            </a:pPr>
            <a:r>
              <a:t>・既存業務フロー（手書き台帳）との連携は未検証</a:t>
            </a:r>
          </a:p>
          <a:p>
            <a:pPr>
              <a:defRPr sz="1100">
                <a:solidFill>
                  <a:srgbClr val="0F172A"/>
                </a:solidFill>
              </a:defRPr>
            </a:pPr>
            <a:r>
              <a:t>・店主の居酒屋トークをそのまま要件定義に採用</a:t>
            </a:r>
          </a:p>
          <a:p>
            <a:pPr>
              <a:defRPr sz="1100">
                <a:solidFill>
                  <a:srgbClr val="0F172A"/>
                </a:solidFill>
              </a:defRPr>
            </a:pPr>
            <a:r>
              <a:t>・品質保証（QA）工程は予算都合によりカット</a:t>
            </a:r>
          </a:p>
          <a:p>
            <a:pPr>
              <a:defRPr sz="1100">
                <a:solidFill>
                  <a:srgbClr val="0F172A"/>
                </a:solidFill>
              </a:defRPr>
            </a:pPr>
            <a:r>
              <a:t>・来週月曜日の大安に無理やりローンチを予定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rIns="0" bIns="0">
            <a:spAutoFit/>
          </a:bodyPr>
          <a:lstStyle/>
          <a:p>
            <a:pPr>
              <a:defRPr sz="1000" b="1">
                <a:solidFill>
                  <a:srgbClr val="EA580C"/>
                </a:solidFill>
              </a:defRPr>
            </a:pPr>
            <a:r>
              <a:t>GONDAWARA TSUKUDANI DX PROJECT</a:t>
            </a:r>
          </a:p>
          <a:p>
            <a:pPr>
              <a:defRPr sz="2200" b="1">
                <a:solidFill>
                  <a:srgbClr val="0F172A"/>
                </a:solidFill>
              </a:defRPr>
            </a:pPr>
            <a:r>
              <a:t>顧客ヒアリング議事録（店主・権三氏の生の声）</a:t>
            </a:r>
          </a:p>
        </p:txBody>
      </p:sp>
      <p:sp>
        <p:nvSpPr>
          <p:cNvPr id="4" name="Rounded Rectangle 3"/>
          <p:cNvSpPr/>
          <p:nvPr/>
        </p:nvSpPr>
        <p:spPr>
          <a:xfrm>
            <a:off x="731520" y="1371600"/>
            <a:ext cx="5175504"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18304" cy="1828800"/>
          </a:xfrm>
          <a:prstGeom prst="rect">
            <a:avLst/>
          </a:prstGeom>
          <a:noFill/>
        </p:spPr>
        <p:txBody>
          <a:bodyPr wrap="square">
            <a:spAutoFit/>
          </a:bodyPr>
          <a:lstStyle/>
          <a:p>
            <a:pPr>
              <a:defRPr sz="1300" b="1">
                <a:solidFill>
                  <a:srgbClr val="1E3A8A"/>
                </a:solidFill>
              </a:defRPr>
            </a:pPr>
            <a:r>
              <a:t>【トップ演出】動画バーン！音ドーン！</a:t>
            </a:r>
          </a:p>
          <a:p>
            <a:pPr>
              <a:defRPr sz="1050" i="1">
                <a:solidFill>
                  <a:srgbClr val="0F172A"/>
                </a:solidFill>
              </a:defRPr>
            </a:pPr>
            <a:r>
              <a:t>「トップページを開いたらな、うちの秘伝のタレがぐつぐつ煮立ってる動画を画面いっぱいに流してくれ！音もドーンと鳴らして迫力満点にしたいんだよ。今の若い奴は動画だろ？」</a:t>
            </a:r>
          </a:p>
          <a:p>
            <a:pPr>
              <a:defRPr sz="950">
                <a:solidFill>
                  <a:srgbClr val="EA580C"/>
                </a:solidFill>
              </a:defRPr>
            </a:pPr>
            <a:r>
              <a:t>※ブラウザの自動再生制限やスマホ通信量への配慮は未定。店主の強いこだわり。</a:t>
            </a:r>
          </a:p>
        </p:txBody>
      </p:sp>
      <p:sp>
        <p:nvSpPr>
          <p:cNvPr id="6" name="Rounded Rectangle 5"/>
          <p:cNvSpPr/>
          <p:nvPr/>
        </p:nvSpPr>
        <p:spPr>
          <a:xfrm>
            <a:off x="6272784" y="1371600"/>
            <a:ext cx="5175504"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1384" y="1554480"/>
            <a:ext cx="4718304" cy="1828800"/>
          </a:xfrm>
          <a:prstGeom prst="rect">
            <a:avLst/>
          </a:prstGeom>
          <a:noFill/>
        </p:spPr>
        <p:txBody>
          <a:bodyPr wrap="square">
            <a:spAutoFit/>
          </a:bodyPr>
          <a:lstStyle/>
          <a:p>
            <a:pPr>
              <a:defRPr sz="1300" b="1">
                <a:solidFill>
                  <a:srgbClr val="1E3A8A"/>
                </a:solidFill>
              </a:defRPr>
            </a:pPr>
            <a:r>
              <a:t>【常連割引】いい感じの合言葉で半額</a:t>
            </a:r>
          </a:p>
          <a:p>
            <a:pPr>
              <a:defRPr sz="1050" i="1">
                <a:solidFill>
                  <a:srgbClr val="0F172A"/>
                </a:solidFill>
              </a:defRPr>
            </a:pPr>
            <a:r>
              <a:t>「昔からの馴染み客には特別扱いしたいんだ。『権三の友達』とか合言葉を入れたら半額になるようにしといて。クーポン？よく分からんからいい感じに作っといてよ。」</a:t>
            </a:r>
          </a:p>
          <a:p>
            <a:pPr>
              <a:defRPr sz="950">
                <a:solidFill>
                  <a:srgbClr val="EA580C"/>
                </a:solidFill>
              </a:defRPr>
            </a:pPr>
            <a:r>
              <a:t>※合言葉がSNSに流出した場合の原価割れリスク・1回限り制限などは検討外。</a:t>
            </a:r>
          </a:p>
        </p:txBody>
      </p:sp>
      <p:sp>
        <p:nvSpPr>
          <p:cNvPr id="8" name="Rounded Rectangle 7"/>
          <p:cNvSpPr/>
          <p:nvPr/>
        </p:nvSpPr>
        <p:spPr>
          <a:xfrm>
            <a:off x="731520" y="3840480"/>
            <a:ext cx="5175504"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23360"/>
            <a:ext cx="4718304" cy="1828800"/>
          </a:xfrm>
          <a:prstGeom prst="rect">
            <a:avLst/>
          </a:prstGeom>
          <a:noFill/>
        </p:spPr>
        <p:txBody>
          <a:bodyPr wrap="square">
            <a:spAutoFit/>
          </a:bodyPr>
          <a:lstStyle/>
          <a:p>
            <a:pPr>
              <a:defRPr sz="1300" b="1">
                <a:solidFill>
                  <a:srgbClr val="1E3A8A"/>
                </a:solidFill>
              </a:defRPr>
            </a:pPr>
            <a:r>
              <a:t>【配送エリア】生モノは電話で断る</a:t>
            </a:r>
          </a:p>
          <a:p>
            <a:pPr>
              <a:defRPr sz="1050" i="1">
                <a:solidFill>
                  <a:srgbClr val="0F172A"/>
                </a:solidFill>
              </a:defRPr>
            </a:pPr>
            <a:r>
              <a:t>「うちの佃煮は無添加だから足が早い。北海道や沖縄は届く前に傷んじゃうかもな。頼めないようにするか、まあ注文入ったらこっちから電話して断るからいいや！」</a:t>
            </a:r>
          </a:p>
          <a:p>
            <a:pPr>
              <a:defRPr sz="950">
                <a:solidFill>
                  <a:srgbClr val="EA580C"/>
                </a:solidFill>
              </a:defRPr>
            </a:pPr>
            <a:r>
              <a:t>※システム自動除外か運用手動対応か不明。電話不通時の返金仕様も存在せず。</a:t>
            </a:r>
          </a:p>
        </p:txBody>
      </p:sp>
      <p:sp>
        <p:nvSpPr>
          <p:cNvPr id="10" name="Rounded Rectangle 9"/>
          <p:cNvSpPr/>
          <p:nvPr/>
        </p:nvSpPr>
        <p:spPr>
          <a:xfrm>
            <a:off x="6272784" y="3840480"/>
            <a:ext cx="5175504"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4023360"/>
            <a:ext cx="4718304" cy="1828800"/>
          </a:xfrm>
          <a:prstGeom prst="rect">
            <a:avLst/>
          </a:prstGeom>
          <a:noFill/>
        </p:spPr>
        <p:txBody>
          <a:bodyPr wrap="square">
            <a:spAutoFit/>
          </a:bodyPr>
          <a:lstStyle/>
          <a:p>
            <a:pPr>
              <a:defRPr sz="1300" b="1">
                <a:solidFill>
                  <a:srgbClr val="1E3A8A"/>
                </a:solidFill>
              </a:defRPr>
            </a:pPr>
            <a:r>
              <a:t>【決済・会員】PayPayとか全部＆ポイント適当</a:t>
            </a:r>
          </a:p>
          <a:p>
            <a:pPr>
              <a:defRPr sz="1050" i="1">
                <a:solidFill>
                  <a:srgbClr val="0F172A"/>
                </a:solidFill>
              </a:defRPr>
            </a:pPr>
            <a:r>
              <a:t>「決済はPayPayとかLINE Payとかクレカとか今風の全部！手数料高いなら銀行振込だけでいいかも。あとポイントな！100円で何点か？普通でいいよ、後で変えられるようにしといて。」</a:t>
            </a:r>
          </a:p>
          <a:p>
            <a:pPr>
              <a:defRPr sz="950">
                <a:solidFill>
                  <a:srgbClr val="EA580C"/>
                </a:solidFill>
              </a:defRPr>
            </a:pPr>
            <a:r>
              <a:t>※決済代行の審査リードタイム無視。ポイントの有効期限や会計処理も白紙。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rIns="0" bIns="0">
            <a:spAutoFit/>
          </a:bodyPr>
          <a:lstStyle/>
          <a:p>
            <a:pPr>
              <a:defRPr sz="1000" b="1">
                <a:solidFill>
                  <a:srgbClr val="EA580C"/>
                </a:solidFill>
              </a:defRPr>
            </a:pPr>
            <a:r>
              <a:t>GONDAWARA TSUKUDANI DX PROJECT</a:t>
            </a:r>
          </a:p>
          <a:p>
            <a:pPr>
              <a:defRPr sz="2200" b="1">
                <a:solidFill>
                  <a:srgbClr val="0F172A"/>
                </a:solidFill>
              </a:defRPr>
            </a:pPr>
            <a:r>
              <a:t>システム要件定義書（要確認項目一覧）</a:t>
            </a:r>
          </a:p>
        </p:txBody>
      </p:sp>
      <p:graphicFrame>
        <p:nvGraphicFramePr>
          <p:cNvPr id="4" name="Table 3"/>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011680"/>
                <a:gridCol w="2926080"/>
                <a:gridCol w="5790895"/>
              </a:tblGrid>
              <a:tr h="679268">
                <a:tc>
                  <a:txBody>
                    <a:bodyPr/>
                    <a:lstStyle/>
                    <a:p>
                      <a:pPr>
                        <a:defRPr sz="1100" b="1">
                          <a:solidFill>
                            <a:srgbClr val="FFFFFF"/>
                          </a:solidFill>
                        </a:defRPr>
                      </a:pPr>
                      <a:r>
                        <a:t>機能分類</a:t>
                      </a:r>
                    </a:p>
                  </a:txBody>
                  <a:tcPr>
                    <a:solidFill>
                      <a:srgbClr val="0F172A"/>
                    </a:solidFill>
                  </a:tcPr>
                </a:tc>
                <a:tc>
                  <a:txBody>
                    <a:bodyPr/>
                    <a:lstStyle/>
                    <a:p>
                      <a:pPr>
                        <a:defRPr sz="1100" b="1">
                          <a:solidFill>
                            <a:srgbClr val="FFFFFF"/>
                          </a:solidFill>
                        </a:defRPr>
                      </a:pPr>
                      <a:r>
                        <a:t>要件・仕様（ヒアリング結果）</a:t>
                      </a:r>
                    </a:p>
                  </a:txBody>
                  <a:tcPr>
                    <a:solidFill>
                      <a:srgbClr val="0F172A"/>
                    </a:solidFill>
                  </a:tcPr>
                </a:tc>
                <a:tc>
                  <a:txBody>
                    <a:bodyPr/>
                    <a:lstStyle/>
                    <a:p>
                      <a:pPr>
                        <a:defRPr sz="1100" b="1">
                          <a:solidFill>
                            <a:srgbClr val="FFFFFF"/>
                          </a:solidFill>
                        </a:defRPr>
                      </a:pPr>
                      <a:r>
                        <a:t>システム設計上の実態・懸念点</a:t>
                      </a:r>
                    </a:p>
                  </a:txBody>
                  <a:tcPr>
                    <a:solidFill>
                      <a:srgbClr val="0F172A"/>
                    </a:solidFill>
                  </a:tcPr>
                </a:tc>
              </a:tr>
              <a:tr h="679268">
                <a:tc>
                  <a:txBody>
                    <a:bodyPr/>
                    <a:lstStyle/>
                    <a:p>
                      <a:pPr>
                        <a:defRPr sz="1000">
                          <a:solidFill>
                            <a:srgbClr val="0F172A"/>
                          </a:solidFill>
                        </a:defRPr>
                      </a:pPr>
                      <a:r>
                        <a:t>商品・在庫管理</a:t>
                      </a:r>
                    </a:p>
                  </a:txBody>
                  <a:tcPr>
                    <a:solidFill>
                      <a:srgbClr val="FFFFFF"/>
                    </a:solidFill>
                  </a:tcPr>
                </a:tc>
                <a:tc>
                  <a:txBody>
                    <a:bodyPr/>
                    <a:lstStyle/>
                    <a:p>
                      <a:pPr>
                        <a:defRPr sz="1000">
                          <a:solidFill>
                            <a:srgbClr val="0F172A"/>
                          </a:solidFill>
                        </a:defRPr>
                      </a:pPr>
                      <a:r>
                        <a:t>店頭の帳面と手動連動（？）</a:t>
                      </a:r>
                    </a:p>
                  </a:txBody>
                  <a:tcPr>
                    <a:solidFill>
                      <a:srgbClr val="FFFFFF"/>
                    </a:solidFill>
                  </a:tcPr>
                </a:tc>
                <a:tc>
                  <a:txBody>
                    <a:bodyPr/>
                    <a:lstStyle/>
                    <a:p>
                      <a:pPr>
                        <a:defRPr sz="1000">
                          <a:solidFill>
                            <a:srgbClr val="0F172A"/>
                          </a:solidFill>
                        </a:defRPr>
                      </a:pPr>
                      <a:r>
                        <a:t>店頭在庫とEC在庫は別。無くなったら店主が手動で管理画面から在庫0にする（忘れると無限に買える）</a:t>
                      </a:r>
                    </a:p>
                  </a:txBody>
                  <a:tcPr>
                    <a:solidFill>
                      <a:srgbClr val="FFFFFF"/>
                    </a:solidFill>
                  </a:tcPr>
                </a:tc>
              </a:tr>
              <a:tr h="679268">
                <a:tc>
                  <a:txBody>
                    <a:bodyPr/>
                    <a:lstStyle/>
                    <a:p>
                      <a:pPr>
                        <a:defRPr sz="1000">
                          <a:solidFill>
                            <a:srgbClr val="0F172A"/>
                          </a:solidFill>
                        </a:defRPr>
                      </a:pPr>
                      <a:r>
                        <a:t>カート・注文</a:t>
                      </a:r>
                    </a:p>
                  </a:txBody>
                  <a:tcPr>
                    <a:solidFill>
                      <a:srgbClr val="F8FAFC"/>
                    </a:solidFill>
                  </a:tcPr>
                </a:tc>
                <a:tc>
                  <a:txBody>
                    <a:bodyPr/>
                    <a:lstStyle/>
                    <a:p>
                      <a:pPr>
                        <a:defRPr sz="1000">
                          <a:solidFill>
                            <a:srgbClr val="0F172A"/>
                          </a:solidFill>
                        </a:defRPr>
                      </a:pPr>
                      <a:r>
                        <a:t>数量バリデーションなし</a:t>
                      </a:r>
                    </a:p>
                  </a:txBody>
                  <a:tcPr>
                    <a:solidFill>
                      <a:srgbClr val="F8FAFC"/>
                    </a:solidFill>
                  </a:tcPr>
                </a:tc>
                <a:tc>
                  <a:txBody>
                    <a:bodyPr/>
                    <a:lstStyle/>
                    <a:p>
                      <a:pPr>
                        <a:defRPr sz="1000">
                          <a:solidFill>
                            <a:srgbClr val="0F172A"/>
                          </a:solidFill>
                        </a:defRPr>
                      </a:pPr>
                      <a:r>
                        <a:t>注文数量の最小値・最大値制限未定（マイナス値入力の考慮漏れ）</a:t>
                      </a:r>
                    </a:p>
                  </a:txBody>
                  <a:tcPr>
                    <a:solidFill>
                      <a:srgbClr val="F8FAFC"/>
                    </a:solidFill>
                  </a:tcPr>
                </a:tc>
              </a:tr>
              <a:tr h="679268">
                <a:tc>
                  <a:txBody>
                    <a:bodyPr/>
                    <a:lstStyle/>
                    <a:p>
                      <a:pPr>
                        <a:defRPr sz="1000">
                          <a:solidFill>
                            <a:srgbClr val="0F172A"/>
                          </a:solidFill>
                        </a:defRPr>
                      </a:pPr>
                      <a:r>
                        <a:t>消費税計算</a:t>
                      </a:r>
                    </a:p>
                  </a:txBody>
                  <a:tcPr>
                    <a:solidFill>
                      <a:srgbClr val="FFFFFF"/>
                    </a:solidFill>
                  </a:tcPr>
                </a:tc>
                <a:tc>
                  <a:txBody>
                    <a:bodyPr/>
                    <a:lstStyle/>
                    <a:p>
                      <a:pPr>
                        <a:defRPr sz="1000">
                          <a:solidFill>
                            <a:srgbClr val="0F172A"/>
                          </a:solidFill>
                        </a:defRPr>
                      </a:pPr>
                      <a:r>
                        <a:t>端数処理ポリシー未統一</a:t>
                      </a:r>
                    </a:p>
                  </a:txBody>
                  <a:tcPr>
                    <a:solidFill>
                      <a:srgbClr val="FFFFFF"/>
                    </a:solidFill>
                  </a:tcPr>
                </a:tc>
                <a:tc>
                  <a:txBody>
                    <a:bodyPr/>
                    <a:lstStyle/>
                    <a:p>
                      <a:pPr>
                        <a:defRPr sz="1000">
                          <a:solidFill>
                            <a:srgbClr val="0F172A"/>
                          </a:solidFill>
                        </a:defRPr>
                      </a:pPr>
                      <a:r>
                        <a:t>画面によって切り捨て・四捨五入が混在しているが『1円くらい気にしない』とのこと</a:t>
                      </a:r>
                    </a:p>
                  </a:txBody>
                  <a:tcPr>
                    <a:solidFill>
                      <a:srgbClr val="FFFFFF"/>
                    </a:solidFill>
                  </a:tcPr>
                </a:tc>
              </a:tr>
              <a:tr h="679268">
                <a:tc>
                  <a:txBody>
                    <a:bodyPr/>
                    <a:lstStyle/>
                    <a:p>
                      <a:pPr>
                        <a:defRPr sz="1000">
                          <a:solidFill>
                            <a:srgbClr val="0F172A"/>
                          </a:solidFill>
                        </a:defRPr>
                      </a:pPr>
                      <a:r>
                        <a:t>会員・ポイント</a:t>
                      </a:r>
                    </a:p>
                  </a:txBody>
                  <a:tcPr>
                    <a:solidFill>
                      <a:srgbClr val="F8FAFC"/>
                    </a:solidFill>
                  </a:tcPr>
                </a:tc>
                <a:tc>
                  <a:txBody>
                    <a:bodyPr/>
                    <a:lstStyle/>
                    <a:p>
                      <a:pPr>
                        <a:defRPr sz="1000">
                          <a:solidFill>
                            <a:srgbClr val="0F172A"/>
                          </a:solidFill>
                        </a:defRPr>
                      </a:pPr>
                      <a:r>
                        <a:t>仕様未確定のまま突切り</a:t>
                      </a:r>
                    </a:p>
                  </a:txBody>
                  <a:tcPr>
                    <a:solidFill>
                      <a:srgbClr val="F8FAFC"/>
                    </a:solidFill>
                  </a:tcPr>
                </a:tc>
                <a:tc>
                  <a:txBody>
                    <a:bodyPr/>
                    <a:lstStyle/>
                    <a:p>
                      <a:pPr>
                        <a:defRPr sz="1000">
                          <a:solidFill>
                            <a:srgbClr val="0F172A"/>
                          </a:solidFill>
                        </a:defRPr>
                      </a:pPr>
                      <a:r>
                        <a:t>付与タイミング、失効期限、利用下限など全て『あとで決める』</a:t>
                      </a:r>
                    </a:p>
                  </a:txBody>
                  <a:tcPr>
                    <a:solidFill>
                      <a:srgbClr val="F8FAFC"/>
                    </a:solidFill>
                  </a:tcPr>
                </a:tc>
              </a:tr>
              <a:tr h="679268">
                <a:tc>
                  <a:txBody>
                    <a:bodyPr/>
                    <a:lstStyle/>
                    <a:p>
                      <a:pPr>
                        <a:defRPr sz="1000">
                          <a:solidFill>
                            <a:srgbClr val="0F172A"/>
                          </a:solidFill>
                        </a:defRPr>
                      </a:pPr>
                      <a:r>
                        <a:t>ギフト・熨斗</a:t>
                      </a:r>
                    </a:p>
                  </a:txBody>
                  <a:tcPr>
                    <a:solidFill>
                      <a:srgbClr val="FFFFFF"/>
                    </a:solidFill>
                  </a:tcPr>
                </a:tc>
                <a:tc>
                  <a:txBody>
                    <a:bodyPr/>
                    <a:lstStyle/>
                    <a:p>
                      <a:pPr>
                        <a:defRPr sz="1000">
                          <a:solidFill>
                            <a:srgbClr val="0F172A"/>
                          </a:solidFill>
                        </a:defRPr>
                      </a:pPr>
                      <a:r>
                        <a:t>備考欄に手書き対応</a:t>
                      </a:r>
                    </a:p>
                  </a:txBody>
                  <a:tcPr>
                    <a:solidFill>
                      <a:srgbClr val="FFFFFF"/>
                    </a:solidFill>
                  </a:tcPr>
                </a:tc>
                <a:tc>
                  <a:txBody>
                    <a:bodyPr/>
                    <a:lstStyle/>
                    <a:p>
                      <a:pPr>
                        <a:defRPr sz="1000">
                          <a:solidFill>
                            <a:srgbClr val="0F172A"/>
                          </a:solidFill>
                        </a:defRPr>
                      </a:pPr>
                      <a:r>
                        <a:t>熨斗選択UIは作らず、備考欄に『お中元』と書かれたら店主が手書きで熨斗を貼る運用</a:t>
                      </a:r>
                    </a:p>
                  </a:txBody>
                  <a:tcPr>
                    <a:solidFill>
                      <a:srgbClr val="FFFFFF"/>
                    </a:solidFill>
                  </a:tcPr>
                </a:tc>
              </a:tr>
              <a:tr h="679272">
                <a:tc>
                  <a:txBody>
                    <a:bodyPr/>
                    <a:lstStyle/>
                    <a:p>
                      <a:pPr>
                        <a:defRPr sz="1000">
                          <a:solidFill>
                            <a:srgbClr val="0F172A"/>
                          </a:solidFill>
                        </a:defRPr>
                      </a:pPr>
                      <a:r>
                        <a:t>セキュリティ</a:t>
                      </a:r>
                    </a:p>
                  </a:txBody>
                  <a:tcPr>
                    <a:solidFill>
                      <a:srgbClr val="F8FAFC"/>
                    </a:solidFill>
                  </a:tcPr>
                </a:tc>
                <a:tc>
                  <a:txBody>
                    <a:bodyPr/>
                    <a:lstStyle/>
                    <a:p>
                      <a:pPr>
                        <a:defRPr sz="1000">
                          <a:solidFill>
                            <a:srgbClr val="0F172A"/>
                          </a:solidFill>
                        </a:defRPr>
                      </a:pPr>
                      <a:r>
                        <a:t>予算ゼロのため最低限</a:t>
                      </a:r>
                    </a:p>
                  </a:txBody>
                  <a:tcPr>
                    <a:solidFill>
                      <a:srgbClr val="F8FAFC"/>
                    </a:solidFill>
                  </a:tcPr>
                </a:tc>
                <a:tc>
                  <a:txBody>
                    <a:bodyPr/>
                    <a:lstStyle/>
                    <a:p>
                      <a:pPr>
                        <a:defRPr sz="1000">
                          <a:solidFill>
                            <a:srgbClr val="0F172A"/>
                          </a:solidFill>
                        </a:defRPr>
                      </a:pPr>
                      <a:r>
                        <a:t>認証不備、XSS、生SQL等の脆弱性検査は工数外として除外</a:t>
                      </a:r>
                    </a:p>
                  </a:txBody>
                  <a:tcPr>
                    <a:solidFill>
                      <a:srgbClr val="F8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rIns="0" bIns="0">
            <a:spAutoFit/>
          </a:bodyPr>
          <a:lstStyle/>
          <a:p>
            <a:pPr>
              <a:defRPr sz="1000" b="1">
                <a:solidFill>
                  <a:srgbClr val="EA580C"/>
                </a:solidFill>
              </a:defRPr>
            </a:pPr>
            <a:r>
              <a:t>GONDAWARA TSUKUDANI DX PROJECT</a:t>
            </a:r>
          </a:p>
          <a:p>
            <a:pPr>
              <a:defRPr sz="2200" b="1">
                <a:solidFill>
                  <a:srgbClr val="0F172A"/>
                </a:solidFill>
              </a:defRPr>
            </a:pPr>
            <a:r>
              <a:t>ECサイト サイトマップ設計（構造破綻・孤立ページあり）</a:t>
            </a:r>
          </a:p>
        </p:txBody>
      </p:sp>
      <p:sp>
        <p:nvSpPr>
          <p:cNvPr id="4" name="Rounded Rectangle 3"/>
          <p:cNvSpPr/>
          <p:nvPr/>
        </p:nvSpPr>
        <p:spPr>
          <a:xfrm>
            <a:off x="4572000" y="1371600"/>
            <a:ext cx="3017520" cy="822960"/>
          </a:xfrm>
          <a:prstGeom prst="roundRect">
            <a:avLst/>
          </a:prstGeom>
          <a:solidFill>
            <a:srgbClr val="1E3A8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TOPページ</a:t>
            </a:r>
            <a:br/>
            <a:r>
              <a:t>(秘伝タレ動画音ドーン)</a:t>
            </a:r>
          </a:p>
        </p:txBody>
      </p:sp>
      <p:sp>
        <p:nvSpPr>
          <p:cNvPr id="5" name="Rounded Rectangle 4"/>
          <p:cNvSpPr/>
          <p:nvPr/>
        </p:nvSpPr>
        <p:spPr>
          <a:xfrm>
            <a:off x="914400" y="256032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商品一覧</a:t>
            </a:r>
            <a:br/>
            <a:r>
              <a:t>(/products)</a:t>
            </a:r>
          </a:p>
        </p:txBody>
      </p:sp>
      <p:sp>
        <p:nvSpPr>
          <p:cNvPr id="6" name="Rounded Rectangle 5"/>
          <p:cNvSpPr/>
          <p:nvPr/>
        </p:nvSpPr>
        <p:spPr>
          <a:xfrm>
            <a:off x="3474720" y="256032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店主の熱いこだわり</a:t>
            </a:r>
            <a:br/>
            <a:r>
              <a:t>(/kodawari)</a:t>
            </a:r>
          </a:p>
        </p:txBody>
      </p:sp>
      <p:sp>
        <p:nvSpPr>
          <p:cNvPr id="7" name="Rounded Rectangle 6"/>
          <p:cNvSpPr/>
          <p:nvPr/>
        </p:nvSpPr>
        <p:spPr>
          <a:xfrm>
            <a:off x="6035040" y="256032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店舗案内</a:t>
            </a:r>
            <a:br/>
            <a:r>
              <a:t>(Mapスクショ画像)</a:t>
            </a:r>
          </a:p>
        </p:txBody>
      </p:sp>
      <p:sp>
        <p:nvSpPr>
          <p:cNvPr id="8" name="Rounded Rectangle 7"/>
          <p:cNvSpPr/>
          <p:nvPr/>
        </p:nvSpPr>
        <p:spPr>
          <a:xfrm>
            <a:off x="8595360" y="256032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マイページ</a:t>
            </a:r>
            <a:br/>
            <a:r>
              <a:t>(IDOR脆弱性あり)</a:t>
            </a:r>
          </a:p>
        </p:txBody>
      </p:sp>
      <p:sp>
        <p:nvSpPr>
          <p:cNvPr id="9" name="Rounded Rectangle 8"/>
          <p:cNvSpPr/>
          <p:nvPr/>
        </p:nvSpPr>
        <p:spPr>
          <a:xfrm>
            <a:off x="914400" y="365760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商品詳細</a:t>
            </a:r>
            <a:br/>
            <a:r>
              <a:t>(/products/{id})</a:t>
            </a:r>
          </a:p>
        </p:txBody>
      </p:sp>
      <p:sp>
        <p:nvSpPr>
          <p:cNvPr id="10" name="Rounded Rectangle 9"/>
          <p:cNvSpPr/>
          <p:nvPr/>
        </p:nvSpPr>
        <p:spPr>
          <a:xfrm>
            <a:off x="3474720" y="365760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買い物かご</a:t>
            </a:r>
            <a:br/>
            <a:r>
              <a:t>(マイナス数量バグ)</a:t>
            </a:r>
          </a:p>
        </p:txBody>
      </p:sp>
      <p:sp>
        <p:nvSpPr>
          <p:cNvPr id="11" name="Rounded Rectangle 10"/>
          <p:cNvSpPr/>
          <p:nvPr/>
        </p:nvSpPr>
        <p:spPr>
          <a:xfrm>
            <a:off x="6035040" y="365760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お届け先・決済入力</a:t>
            </a:r>
            <a:br/>
            <a:r>
              <a:t>(/checkout)</a:t>
            </a:r>
          </a:p>
        </p:txBody>
      </p:sp>
      <p:sp>
        <p:nvSpPr>
          <p:cNvPr id="12" name="Rounded Rectangle 11"/>
          <p:cNvSpPr/>
          <p:nvPr/>
        </p:nvSpPr>
        <p:spPr>
          <a:xfrm>
            <a:off x="8595360" y="3657600"/>
            <a:ext cx="2286000" cy="7315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注文完了</a:t>
            </a:r>
            <a:br/>
            <a:r>
              <a:t>(/thanks)</a:t>
            </a:r>
          </a:p>
        </p:txBody>
      </p:sp>
      <p:sp>
        <p:nvSpPr>
          <p:cNvPr id="13" name="Rounded Rectangle 12"/>
          <p:cNvSpPr/>
          <p:nvPr/>
        </p:nvSpPr>
        <p:spPr>
          <a:xfrm>
            <a:off x="914400" y="4937760"/>
            <a:ext cx="3657600" cy="1097280"/>
          </a:xfrm>
          <a:prstGeom prst="roundRect">
            <a:avLst/>
          </a:prstGeom>
          <a:solidFill>
            <a:srgbClr val="FEF2F2"/>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A580C"/>
                </a:solidFill>
              </a:defRPr>
            </a:pPr>
            <a:r>
              <a:t>【孤立】常連専用隠し部屋</a:t>
            </a:r>
            <a:br/>
            <a:r>
              <a:t>(ヘッダー/フッターに導線なし)</a:t>
            </a:r>
          </a:p>
        </p:txBody>
      </p:sp>
      <p:sp>
        <p:nvSpPr>
          <p:cNvPr id="14" name="Rounded Rectangle 13"/>
          <p:cNvSpPr/>
          <p:nvPr/>
        </p:nvSpPr>
        <p:spPr>
          <a:xfrm>
            <a:off x="4937760" y="4937760"/>
            <a:ext cx="5943600" cy="1097280"/>
          </a:xfrm>
          <a:prstGeom prst="roundRect">
            <a:avLst/>
          </a:prstGeom>
          <a:solidFill>
            <a:srgbClr val="FEF2F2"/>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A580C"/>
                </a:solidFill>
              </a:defRPr>
            </a:pPr>
            <a:r>
              <a:t>【法的表記欠落】特定商取引法 / 利用規約</a:t>
            </a:r>
            <a:br/>
            <a:r>
              <a:t>(導線ゼロ・テンプレURL直打ちのみ閲覧可能)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rIns="0" bIns="0">
            <a:spAutoFit/>
          </a:bodyPr>
          <a:lstStyle/>
          <a:p>
            <a:pPr>
              <a:defRPr sz="1000" b="1">
                <a:solidFill>
                  <a:srgbClr val="EA580C"/>
                </a:solidFill>
              </a:defRPr>
            </a:pPr>
            <a:r>
              <a:t>GONDAWARA TSUKUDANI DX PROJECT</a:t>
            </a:r>
          </a:p>
          <a:p>
            <a:pPr>
              <a:defRPr sz="2200" b="1">
                <a:solidFill>
                  <a:srgbClr val="0F172A"/>
                </a:solidFill>
              </a:defRPr>
            </a:pPr>
            <a:r>
              <a:t>ローンチまでの推進スケジュール（超突貫工程）</a:t>
            </a:r>
          </a:p>
        </p:txBody>
      </p:sp>
      <p:sp>
        <p:nvSpPr>
          <p:cNvPr id="4" name="Rounded Rectangle 3"/>
          <p:cNvSpPr/>
          <p:nvPr/>
        </p:nvSpPr>
        <p:spPr>
          <a:xfrm>
            <a:off x="731520" y="1645920"/>
            <a:ext cx="242316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057400" cy="3749040"/>
          </a:xfrm>
          <a:prstGeom prst="rect">
            <a:avLst/>
          </a:prstGeom>
          <a:noFill/>
        </p:spPr>
        <p:txBody>
          <a:bodyPr wrap="square">
            <a:spAutoFit/>
          </a:bodyPr>
          <a:lstStyle/>
          <a:p>
            <a:pPr>
              <a:defRPr sz="1100" b="1">
                <a:solidFill>
                  <a:srgbClr val="EA580C"/>
                </a:solidFill>
              </a:defRPr>
            </a:pPr>
            <a:r>
              <a:t>STEP 1</a:t>
            </a:r>
          </a:p>
          <a:p>
            <a:pPr>
              <a:defRPr sz="1400" b="1">
                <a:solidFill>
                  <a:srgbClr val="0F172A"/>
                </a:solidFill>
              </a:defRPr>
            </a:pPr>
            <a:r>
              <a:t>Phase 1: 要件定義</a:t>
            </a:r>
          </a:p>
          <a:p>
            <a:pPr>
              <a:defRPr sz="1100" b="1">
                <a:solidFill>
                  <a:srgbClr val="1E3A8A"/>
                </a:solidFill>
              </a:defRPr>
            </a:pPr>
            <a:r>
              <a:t>Day 1 (居酒屋)</a:t>
            </a:r>
          </a:p>
          <a:p>
            <a:pPr>
              <a:defRPr sz="1050">
                <a:solidFill>
                  <a:srgbClr val="0F172A"/>
                </a:solidFill>
              </a:defRPr>
            </a:pPr>
            <a:r>
              <a:t>店主とビールを飲みながら口頭で仕様決定。議事録なし。</a:t>
            </a:r>
          </a:p>
        </p:txBody>
      </p:sp>
      <p:sp>
        <p:nvSpPr>
          <p:cNvPr id="6" name="Rounded Rectangle 5"/>
          <p:cNvSpPr/>
          <p:nvPr/>
        </p:nvSpPr>
        <p:spPr>
          <a:xfrm>
            <a:off x="3474720" y="1645920"/>
            <a:ext cx="242316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828800"/>
            <a:ext cx="2057400" cy="3749040"/>
          </a:xfrm>
          <a:prstGeom prst="rect">
            <a:avLst/>
          </a:prstGeom>
          <a:noFill/>
        </p:spPr>
        <p:txBody>
          <a:bodyPr wrap="square">
            <a:spAutoFit/>
          </a:bodyPr>
          <a:lstStyle/>
          <a:p>
            <a:pPr>
              <a:defRPr sz="1100" b="1">
                <a:solidFill>
                  <a:srgbClr val="EA580C"/>
                </a:solidFill>
              </a:defRPr>
            </a:pPr>
            <a:r>
              <a:t>STEP 2</a:t>
            </a:r>
          </a:p>
          <a:p>
            <a:pPr>
              <a:defRPr sz="1400" b="1">
                <a:solidFill>
                  <a:srgbClr val="0F172A"/>
                </a:solidFill>
              </a:defRPr>
            </a:pPr>
            <a:r>
              <a:t>Phase 2: 実装・コーディング</a:t>
            </a:r>
          </a:p>
          <a:p>
            <a:pPr>
              <a:defRPr sz="1100" b="1">
                <a:solidFill>
                  <a:srgbClr val="1E3A8A"/>
                </a:solidFill>
              </a:defRPr>
            </a:pPr>
            <a:r>
              <a:t>Day 2 - Day 4</a:t>
            </a:r>
          </a:p>
          <a:p>
            <a:pPr>
              <a:defRPr sz="1050">
                <a:solidFill>
                  <a:srgbClr val="0F172A"/>
                </a:solidFill>
              </a:defRPr>
            </a:pPr>
            <a:r>
              <a:t>1500行の神コントローラに全処理を殴り書き。動けばヨシ！</a:t>
            </a:r>
          </a:p>
        </p:txBody>
      </p:sp>
      <p:sp>
        <p:nvSpPr>
          <p:cNvPr id="8" name="Rounded Rectangle 7"/>
          <p:cNvSpPr/>
          <p:nvPr/>
        </p:nvSpPr>
        <p:spPr>
          <a:xfrm>
            <a:off x="6217920" y="1645920"/>
            <a:ext cx="242316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2057400" cy="3749040"/>
          </a:xfrm>
          <a:prstGeom prst="rect">
            <a:avLst/>
          </a:prstGeom>
          <a:noFill/>
        </p:spPr>
        <p:txBody>
          <a:bodyPr wrap="square">
            <a:spAutoFit/>
          </a:bodyPr>
          <a:lstStyle/>
          <a:p>
            <a:pPr>
              <a:defRPr sz="1100" b="1">
                <a:solidFill>
                  <a:srgbClr val="EA580C"/>
                </a:solidFill>
              </a:defRPr>
            </a:pPr>
            <a:r>
              <a:t>STEP 3</a:t>
            </a:r>
          </a:p>
          <a:p>
            <a:pPr>
              <a:defRPr sz="1400" b="1">
                <a:solidFill>
                  <a:srgbClr val="0F172A"/>
                </a:solidFill>
              </a:defRPr>
            </a:pPr>
            <a:r>
              <a:t>Phase 3: テスト・品質管理</a:t>
            </a:r>
          </a:p>
          <a:p>
            <a:pPr>
              <a:defRPr sz="1100" b="1">
                <a:solidFill>
                  <a:srgbClr val="1E3A8A"/>
                </a:solidFill>
              </a:defRPr>
            </a:pPr>
            <a:r>
              <a:t>Day 5 (1時間)</a:t>
            </a:r>
          </a:p>
          <a:p>
            <a:pPr>
              <a:defRPr sz="1050">
                <a:solidFill>
                  <a:srgbClr val="0F172A"/>
                </a:solidFill>
              </a:defRPr>
            </a:pPr>
            <a:r>
              <a:t>店主が自分のPCで1回カートに入れたら購入できたのでテスト完了。</a:t>
            </a:r>
          </a:p>
        </p:txBody>
      </p:sp>
      <p:sp>
        <p:nvSpPr>
          <p:cNvPr id="10" name="Rounded Rectangle 9"/>
          <p:cNvSpPr/>
          <p:nvPr/>
        </p:nvSpPr>
        <p:spPr>
          <a:xfrm>
            <a:off x="8961120" y="1645920"/>
            <a:ext cx="242316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828800"/>
            <a:ext cx="2057400" cy="3749040"/>
          </a:xfrm>
          <a:prstGeom prst="rect">
            <a:avLst/>
          </a:prstGeom>
          <a:noFill/>
        </p:spPr>
        <p:txBody>
          <a:bodyPr wrap="square">
            <a:spAutoFit/>
          </a:bodyPr>
          <a:lstStyle/>
          <a:p>
            <a:pPr>
              <a:defRPr sz="1100" b="1">
                <a:solidFill>
                  <a:srgbClr val="EA580C"/>
                </a:solidFill>
              </a:defRPr>
            </a:pPr>
            <a:r>
              <a:t>STEP 4</a:t>
            </a:r>
          </a:p>
          <a:p>
            <a:pPr>
              <a:defRPr sz="1400" b="1">
                <a:solidFill>
                  <a:srgbClr val="0F172A"/>
                </a:solidFill>
              </a:defRPr>
            </a:pPr>
            <a:r>
              <a:t>Phase 4: 本番ローンチ</a:t>
            </a:r>
          </a:p>
          <a:p>
            <a:pPr>
              <a:defRPr sz="1100" b="1">
                <a:solidFill>
                  <a:srgbClr val="1E3A8A"/>
                </a:solidFill>
              </a:defRPr>
            </a:pPr>
            <a:r>
              <a:t>Day 6 (大安)</a:t>
            </a:r>
          </a:p>
          <a:p>
            <a:pPr>
              <a:defRPr sz="1050">
                <a:solidFill>
                  <a:srgbClr val="0F172A"/>
                </a:solidFill>
              </a:defRPr>
            </a:pPr>
            <a:r>
              <a:t>本番デバッグモード(APP_DEBUG=true)のまま奇跡の公開！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